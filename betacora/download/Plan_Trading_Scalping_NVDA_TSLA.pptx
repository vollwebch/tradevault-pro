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52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50750"/>
          </a:xfrm>
          <a:prstGeom prst="rect">
            <a:avLst/>
          </a:prstGeom>
          <a:solidFill>
            <a:srgbClr val="44D1E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508450" y="1025723"/>
            <a:ext cx="126950" cy="126950"/>
          </a:xfrm>
          <a:prstGeom prst="roundRect">
            <a:avLst>
              <a:gd name="adj" fmla="val 720284"/>
            </a:avLst>
          </a:prstGeom>
          <a:solidFill>
            <a:srgbClr val="44D1E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274320" y="1457474"/>
            <a:ext cx="8595211" cy="6254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456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PLAN DE TRADING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274320" y="2087314"/>
            <a:ext cx="8595360" cy="6254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4560"/>
              </a:lnSpc>
              <a:spcBef>
                <a:spcPts val="400"/>
              </a:spcBef>
              <a:buNone/>
            </a:pPr>
            <a:r>
              <a:rPr lang="en-US" sz="3800" b="1" dirty="0">
                <a:solidFill>
                  <a:srgbClr val="44D1E4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SCALPING NVDA / TSLA</a:t>
            </a:r>
            <a:endParaRPr lang="en-US" sz="3800" dirty="0"/>
          </a:p>
        </p:txBody>
      </p:sp>
      <p:sp>
        <p:nvSpPr>
          <p:cNvPr id="6" name="Text 4"/>
          <p:cNvSpPr/>
          <p:nvPr/>
        </p:nvSpPr>
        <p:spPr>
          <a:xfrm>
            <a:off x="4267200" y="2920305"/>
            <a:ext cx="609600" cy="38100"/>
          </a:xfrm>
          <a:prstGeom prst="rect">
            <a:avLst/>
          </a:prstGeom>
          <a:solidFill>
            <a:srgbClr val="44D1E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1901391" y="3212306"/>
            <a:ext cx="5341069" cy="3264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380"/>
              </a:lnSpc>
              <a:spcAft>
                <a:spcPts val="3200"/>
              </a:spcAft>
              <a:buNone/>
            </a:pPr>
            <a:r>
              <a:rPr lang="en-US" sz="1700" dirty="0">
                <a:solidFill>
                  <a:srgbClr val="FFFFFF">
                    <a:alpha val="75000"/>
                  </a:srgbClr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Sistema basado en datos con filtros VIX + QQQ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2756446" y="3920877"/>
            <a:ext cx="3631109" cy="2673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950"/>
              </a:lnSpc>
              <a:buNone/>
            </a:pPr>
            <a:r>
              <a:rPr lang="en-US" sz="1300" dirty="0">
                <a:solidFill>
                  <a:srgbClr val="FFFFFF">
                    <a:alpha val="45000"/>
                  </a:srgbClr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Prop Trading · Analisis Multi-Timeframe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6223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406301"/>
            <a:ext cx="8534400" cy="427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120"/>
              </a:lnSpc>
              <a:buNone/>
            </a:pPr>
            <a:r>
              <a:rPr lang="en-US" sz="2600" b="1" dirty="0">
                <a:solidFill>
                  <a:srgbClr val="FFFFFF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Contenido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609600" y="1068884"/>
            <a:ext cx="7924800" cy="507802"/>
          </a:xfrm>
          <a:prstGeom prst="roundRect">
            <a:avLst>
              <a:gd name="adj" fmla="val 15006"/>
            </a:avLst>
          </a:prstGeom>
          <a:solidFill>
            <a:srgbClr val="1E2D4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863501" y="1183035"/>
            <a:ext cx="38100" cy="279350"/>
          </a:xfrm>
          <a:prstGeom prst="roundRect">
            <a:avLst>
              <a:gd name="adj" fmla="val 66667"/>
            </a:avLst>
          </a:prstGeom>
          <a:solidFill>
            <a:srgbClr val="44D1E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1079302" y="1170384"/>
            <a:ext cx="7009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2400" b="1" dirty="0">
                <a:solidFill>
                  <a:srgbClr val="44D1E4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01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1688753" y="1198959"/>
            <a:ext cx="3352800" cy="2674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MTFA — Analisis Multi-Timeframe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609600" y="1640086"/>
            <a:ext cx="7924800" cy="507802"/>
          </a:xfrm>
          <a:prstGeom prst="roundRect">
            <a:avLst>
              <a:gd name="adj" fmla="val 15006"/>
            </a:avLst>
          </a:prstGeom>
          <a:solidFill>
            <a:srgbClr val="1E2D4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863501" y="1754237"/>
            <a:ext cx="38100" cy="279350"/>
          </a:xfrm>
          <a:prstGeom prst="roundRect">
            <a:avLst>
              <a:gd name="adj" fmla="val 66667"/>
            </a:avLst>
          </a:prstGeom>
          <a:solidFill>
            <a:srgbClr val="44D1E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1079302" y="1741587"/>
            <a:ext cx="7009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2400" b="1" dirty="0">
                <a:solidFill>
                  <a:srgbClr val="44D1E4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02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1688753" y="1770162"/>
            <a:ext cx="3876675" cy="2674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Filtro VIX — Volatilidad del Mercado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609600" y="2211288"/>
            <a:ext cx="7924800" cy="507802"/>
          </a:xfrm>
          <a:prstGeom prst="roundRect">
            <a:avLst>
              <a:gd name="adj" fmla="val 15006"/>
            </a:avLst>
          </a:prstGeom>
          <a:solidFill>
            <a:srgbClr val="1E2D4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863501" y="2325439"/>
            <a:ext cx="38100" cy="279350"/>
          </a:xfrm>
          <a:prstGeom prst="roundRect">
            <a:avLst>
              <a:gd name="adj" fmla="val 66667"/>
            </a:avLst>
          </a:prstGeom>
          <a:solidFill>
            <a:srgbClr val="44D1E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1079302" y="2312789"/>
            <a:ext cx="7009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2400" b="1" dirty="0">
                <a:solidFill>
                  <a:srgbClr val="44D1E4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03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1688753" y="2341364"/>
            <a:ext cx="3667125" cy="2674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Filtro QQQ — Correlacion Sectorial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609600" y="2782491"/>
            <a:ext cx="7924800" cy="507802"/>
          </a:xfrm>
          <a:prstGeom prst="roundRect">
            <a:avLst>
              <a:gd name="adj" fmla="val 15006"/>
            </a:avLst>
          </a:prstGeom>
          <a:solidFill>
            <a:srgbClr val="1E2D4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863501" y="2896642"/>
            <a:ext cx="38100" cy="279350"/>
          </a:xfrm>
          <a:prstGeom prst="roundRect">
            <a:avLst>
              <a:gd name="adj" fmla="val 66667"/>
            </a:avLst>
          </a:prstGeom>
          <a:solidFill>
            <a:srgbClr val="44D1E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1079302" y="2883991"/>
            <a:ext cx="7009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2400" b="1" dirty="0">
                <a:solidFill>
                  <a:srgbClr val="44D1E4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04</a:t>
            </a:r>
            <a:endParaRPr lang="en-US" sz="2400" dirty="0"/>
          </a:p>
        </p:txBody>
      </p:sp>
      <p:sp>
        <p:nvSpPr>
          <p:cNvPr id="18" name="Text 16"/>
          <p:cNvSpPr/>
          <p:nvPr/>
        </p:nvSpPr>
        <p:spPr>
          <a:xfrm>
            <a:off x="1688753" y="2912566"/>
            <a:ext cx="2135505" cy="2674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4 Setups de Trading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609600" y="3353693"/>
            <a:ext cx="7924800" cy="507802"/>
          </a:xfrm>
          <a:prstGeom prst="roundRect">
            <a:avLst>
              <a:gd name="adj" fmla="val 15006"/>
            </a:avLst>
          </a:prstGeom>
          <a:solidFill>
            <a:srgbClr val="1E2D4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863501" y="3467844"/>
            <a:ext cx="38100" cy="279350"/>
          </a:xfrm>
          <a:prstGeom prst="roundRect">
            <a:avLst>
              <a:gd name="adj" fmla="val 66667"/>
            </a:avLst>
          </a:prstGeom>
          <a:solidFill>
            <a:srgbClr val="44D1E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Text 19"/>
          <p:cNvSpPr/>
          <p:nvPr/>
        </p:nvSpPr>
        <p:spPr>
          <a:xfrm>
            <a:off x="1079302" y="3455194"/>
            <a:ext cx="7009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2400" b="1" dirty="0">
                <a:solidFill>
                  <a:srgbClr val="44D1E4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05</a:t>
            </a:r>
            <a:endParaRPr lang="en-US" sz="2400" dirty="0"/>
          </a:p>
        </p:txBody>
      </p:sp>
      <p:sp>
        <p:nvSpPr>
          <p:cNvPr id="22" name="Text 20"/>
          <p:cNvSpPr/>
          <p:nvPr/>
        </p:nvSpPr>
        <p:spPr>
          <a:xfrm>
            <a:off x="1688753" y="3483769"/>
            <a:ext cx="1910715" cy="2674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Gestion de Riesgo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609600" y="3924895"/>
            <a:ext cx="7924800" cy="507802"/>
          </a:xfrm>
          <a:prstGeom prst="roundRect">
            <a:avLst>
              <a:gd name="adj" fmla="val 15006"/>
            </a:avLst>
          </a:prstGeom>
          <a:solidFill>
            <a:srgbClr val="1E2D4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4" name="Text 22"/>
          <p:cNvSpPr/>
          <p:nvPr/>
        </p:nvSpPr>
        <p:spPr>
          <a:xfrm>
            <a:off x="863501" y="4039046"/>
            <a:ext cx="38100" cy="279350"/>
          </a:xfrm>
          <a:prstGeom prst="roundRect">
            <a:avLst>
              <a:gd name="adj" fmla="val 66667"/>
            </a:avLst>
          </a:prstGeom>
          <a:solidFill>
            <a:srgbClr val="44D1E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5" name="Text 23"/>
          <p:cNvSpPr/>
          <p:nvPr/>
        </p:nvSpPr>
        <p:spPr>
          <a:xfrm>
            <a:off x="1079302" y="4026396"/>
            <a:ext cx="7009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2400" b="1" dirty="0">
                <a:solidFill>
                  <a:srgbClr val="44D1E4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06</a:t>
            </a:r>
            <a:endParaRPr lang="en-US" sz="2400" dirty="0"/>
          </a:p>
        </p:txBody>
      </p:sp>
      <p:sp>
        <p:nvSpPr>
          <p:cNvPr id="26" name="Text 24"/>
          <p:cNvSpPr/>
          <p:nvPr/>
        </p:nvSpPr>
        <p:spPr>
          <a:xfrm>
            <a:off x="1688753" y="4054971"/>
            <a:ext cx="2247900" cy="2674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Checklist Pre-Market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609600" y="4496098"/>
            <a:ext cx="7924800" cy="507802"/>
          </a:xfrm>
          <a:prstGeom prst="roundRect">
            <a:avLst>
              <a:gd name="adj" fmla="val 15006"/>
            </a:avLst>
          </a:prstGeom>
          <a:solidFill>
            <a:srgbClr val="1E2D4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8" name="Text 26"/>
          <p:cNvSpPr/>
          <p:nvPr/>
        </p:nvSpPr>
        <p:spPr>
          <a:xfrm>
            <a:off x="863501" y="4610249"/>
            <a:ext cx="38100" cy="279350"/>
          </a:xfrm>
          <a:prstGeom prst="roundRect">
            <a:avLst>
              <a:gd name="adj" fmla="val 66667"/>
            </a:avLst>
          </a:prstGeom>
          <a:solidFill>
            <a:srgbClr val="44D1E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9" name="Text 27"/>
          <p:cNvSpPr/>
          <p:nvPr/>
        </p:nvSpPr>
        <p:spPr>
          <a:xfrm>
            <a:off x="1079302" y="4597598"/>
            <a:ext cx="7009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2400" b="1" dirty="0">
                <a:solidFill>
                  <a:srgbClr val="44D1E4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07</a:t>
            </a:r>
            <a:endParaRPr lang="en-US" sz="2400" dirty="0"/>
          </a:p>
        </p:txBody>
      </p:sp>
      <p:sp>
        <p:nvSpPr>
          <p:cNvPr id="30" name="Text 28"/>
          <p:cNvSpPr/>
          <p:nvPr/>
        </p:nvSpPr>
        <p:spPr>
          <a:xfrm>
            <a:off x="1688753" y="4626173"/>
            <a:ext cx="2809875" cy="2674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Estadisticas y Resultados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220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50750"/>
          </a:xfrm>
          <a:prstGeom prst="rect">
            <a:avLst/>
          </a:prstGeom>
          <a:solidFill>
            <a:srgbClr val="44D1E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0" y="50750"/>
            <a:ext cx="2793950" cy="5092750"/>
          </a:xfrm>
          <a:prstGeom prst="rect">
            <a:avLst/>
          </a:prstGeom>
          <a:solidFill>
            <a:srgbClr val="44D1E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304800" y="1253728"/>
            <a:ext cx="2992560" cy="3949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80"/>
              </a:lnSpc>
              <a:spcAft>
                <a:spcPts val="800"/>
              </a:spcAft>
              <a:buNone/>
            </a:pPr>
            <a:r>
              <a:rPr lang="en-US" sz="2400" b="1" dirty="0">
                <a:solidFill>
                  <a:srgbClr val="FFFFFF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MTFA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304800" y="1720900"/>
            <a:ext cx="2577533" cy="21393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60"/>
              </a:lnSpc>
              <a:spcAft>
                <a:spcPts val="1600"/>
              </a:spcAft>
              <a:buNone/>
            </a:pPr>
            <a:r>
              <a:rPr lang="en-US" sz="1200" dirty="0">
                <a:solidFill>
                  <a:srgbClr val="FFFFFF">
                    <a:alpha val="85000"/>
                  </a:srgbClr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Analisis Multi-Timeframe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304800" y="2122140"/>
            <a:ext cx="2730438" cy="17031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140"/>
              </a:lnSpc>
              <a:buNone/>
            </a:pPr>
            <a:r>
              <a:rPr lang="en-US" sz="3600" dirty="0">
                <a:solidFill>
                  <a:srgbClr val="FFFFFF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1D · 4H</a:t>
            </a:r>
            <a:endParaRPr lang="en-US" sz="3600" dirty="0"/>
          </a:p>
          <a:p>
            <a:pPr algn="l" indent="0" marL="0">
              <a:lnSpc>
                <a:spcPts val="4140"/>
              </a:lnSpc>
              <a:buNone/>
            </a:pPr>
            <a:r>
              <a:rPr lang="en-US" sz="3600" dirty="0">
                <a:solidFill>
                  <a:srgbClr val="FFFFFF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1H · 5M · 1M</a:t>
            </a:r>
            <a:endParaRPr lang="en-US" sz="3600" dirty="0"/>
          </a:p>
        </p:txBody>
      </p:sp>
      <p:sp>
        <p:nvSpPr>
          <p:cNvPr id="7" name="Text 5"/>
          <p:cNvSpPr/>
          <p:nvPr/>
        </p:nvSpPr>
        <p:spPr>
          <a:xfrm>
            <a:off x="304800" y="3902273"/>
            <a:ext cx="355550" cy="38100"/>
          </a:xfrm>
          <a:prstGeom prst="rect">
            <a:avLst/>
          </a:prstGeom>
          <a:solidFill>
            <a:srgbClr val="FFFFFF">
              <a:alpha val="50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3149501" y="750689"/>
            <a:ext cx="304800" cy="304800"/>
          </a:xfrm>
          <a:prstGeom prst="roundRect">
            <a:avLst>
              <a:gd name="adj" fmla="val 300000"/>
            </a:avLst>
          </a:prstGeom>
          <a:solidFill>
            <a:srgbClr val="44D1E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3263801" y="826889"/>
            <a:ext cx="10515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1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3555802" y="750689"/>
            <a:ext cx="5588198" cy="2496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20"/>
              </a:lnSpc>
              <a:spcAft>
                <a:spcPts val="200"/>
              </a:spcAft>
              <a:buNone/>
            </a:pPr>
            <a:r>
              <a:rPr lang="en-US" sz="1400" b="1" dirty="0">
                <a:solidFill>
                  <a:srgbClr val="FFFFFF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1D / 4H — Tendencia Macro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3555802" y="1007120"/>
            <a:ext cx="5494280" cy="4606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FFFFFF">
                    <a:alpha val="65000"/>
                  </a:srgbClr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Identificar direccion principal. Solo operar a favor de la tendencia en graficos diarios y 4H.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3149501" y="1560612"/>
            <a:ext cx="304800" cy="304800"/>
          </a:xfrm>
          <a:prstGeom prst="roundRect">
            <a:avLst>
              <a:gd name="adj" fmla="val 300000"/>
            </a:avLst>
          </a:prstGeom>
          <a:solidFill>
            <a:srgbClr val="44D1E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3263801" y="1636812"/>
            <a:ext cx="10515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2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3555802" y="1560612"/>
            <a:ext cx="5588198" cy="2496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20"/>
              </a:lnSpc>
              <a:spcAft>
                <a:spcPts val="200"/>
              </a:spcAft>
              <a:buNone/>
            </a:pPr>
            <a:r>
              <a:rPr lang="en-US" sz="1400" b="1" dirty="0">
                <a:solidFill>
                  <a:srgbClr val="FFFFFF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1H — Zonas de Interes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3555802" y="1817043"/>
            <a:ext cx="5494280" cy="4606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FFFFFF">
                    <a:alpha val="65000"/>
                  </a:srgbClr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Marcar soportes, resistencias y zonas de liquidez para buscar entradas.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3149501" y="2370534"/>
            <a:ext cx="304800" cy="304800"/>
          </a:xfrm>
          <a:prstGeom prst="roundRect">
            <a:avLst>
              <a:gd name="adj" fmla="val 300000"/>
            </a:avLst>
          </a:prstGeom>
          <a:solidFill>
            <a:srgbClr val="44D1E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3263801" y="2446734"/>
            <a:ext cx="10515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3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3555802" y="2370534"/>
            <a:ext cx="5588198" cy="2496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20"/>
              </a:lnSpc>
              <a:spcAft>
                <a:spcPts val="200"/>
              </a:spcAft>
              <a:buNone/>
            </a:pPr>
            <a:r>
              <a:rPr lang="en-US" sz="1400" b="1" dirty="0">
                <a:solidFill>
                  <a:srgbClr val="FFFFFF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5M — Senal de Confirmacion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3555802" y="2626965"/>
            <a:ext cx="5494280" cy="4606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FFFFFF">
                    <a:alpha val="65000"/>
                  </a:srgbClr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Esperar patron de velas de confirmacion en 5 minutos para validar la entrada.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3149501" y="3180457"/>
            <a:ext cx="304800" cy="304800"/>
          </a:xfrm>
          <a:prstGeom prst="roundRect">
            <a:avLst>
              <a:gd name="adj" fmla="val 300000"/>
            </a:avLst>
          </a:prstGeom>
          <a:solidFill>
            <a:srgbClr val="44D1E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Text 19"/>
          <p:cNvSpPr/>
          <p:nvPr/>
        </p:nvSpPr>
        <p:spPr>
          <a:xfrm>
            <a:off x="3263801" y="3256657"/>
            <a:ext cx="10515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4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3555802" y="3180457"/>
            <a:ext cx="5588198" cy="2496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20"/>
              </a:lnSpc>
              <a:spcAft>
                <a:spcPts val="200"/>
              </a:spcAft>
              <a:buNone/>
            </a:pPr>
            <a:r>
              <a:rPr lang="en-US" sz="1400" b="1" dirty="0">
                <a:solidFill>
                  <a:srgbClr val="FFFFFF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1M — Ejecucion Precisa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3555802" y="3436888"/>
            <a:ext cx="5588198" cy="2303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FFFFFF">
                    <a:alpha val="65000"/>
                  </a:srgbClr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Timeline de 1 minuto para entrada y gestion del trade.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3149501" y="3777109"/>
            <a:ext cx="304800" cy="304800"/>
          </a:xfrm>
          <a:prstGeom prst="roundRect">
            <a:avLst>
              <a:gd name="adj" fmla="val 300000"/>
            </a:avLst>
          </a:prstGeom>
          <a:solidFill>
            <a:srgbClr val="EDCD8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5" name="Text 23"/>
          <p:cNvSpPr/>
          <p:nvPr/>
        </p:nvSpPr>
        <p:spPr>
          <a:xfrm>
            <a:off x="3263801" y="3853309"/>
            <a:ext cx="10515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1200" b="1" dirty="0">
                <a:solidFill>
                  <a:srgbClr val="122040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!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3555802" y="3777109"/>
            <a:ext cx="5588198" cy="2316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90"/>
              </a:lnSpc>
              <a:spcAft>
                <a:spcPts val="200"/>
              </a:spcAft>
              <a:buNone/>
            </a:pPr>
            <a:r>
              <a:rPr lang="en-US" sz="1300" b="1" dirty="0">
                <a:solidFill>
                  <a:srgbClr val="EDCD82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Regla Clave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3555802" y="4016871"/>
            <a:ext cx="5494280" cy="4606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FFFFFF">
                    <a:alpha val="65000"/>
                  </a:srgbClr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Nunca operar contra la tendencia del 1D. MTFA siempre de mayor a menor.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152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355550"/>
            <a:ext cx="8636000" cy="3949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880"/>
              </a:lnSpc>
              <a:buNone/>
            </a:pPr>
            <a:r>
              <a:rPr lang="en-US" sz="2400" b="1" dirty="0">
                <a:solidFill>
                  <a:srgbClr val="FFFFFF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FILTRO VIX — Volatilidad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213360" y="771971"/>
            <a:ext cx="8636000" cy="21393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560"/>
              </a:lnSpc>
              <a:spcBef>
                <a:spcPts val="400"/>
              </a:spcBef>
              <a:buNone/>
            </a:pPr>
            <a:r>
              <a:rPr lang="en-US" sz="1200" dirty="0">
                <a:solidFill>
                  <a:srgbClr val="FFFFFF">
                    <a:alpha val="45000"/>
                  </a:srgbClr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El VIX determina el sesgo direccional y probabilidad de exito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60499" y="1173212"/>
            <a:ext cx="2489150" cy="3563987"/>
          </a:xfrm>
          <a:prstGeom prst="roundRect">
            <a:avLst>
              <a:gd name="adj" fmla="val 5102"/>
            </a:avLst>
          </a:prstGeom>
          <a:solidFill>
            <a:srgbClr val="FFFFFF">
              <a:alpha val="6000"/>
            </a:srgbClr>
          </a:solidFill>
          <a:ln w="9525">
            <a:solidFill>
              <a:srgbClr val="FFFFFF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1676400" y="1436638"/>
            <a:ext cx="457200" cy="457200"/>
          </a:xfrm>
          <a:prstGeom prst="roundRect">
            <a:avLst>
              <a:gd name="adj" fmla="val 200000"/>
            </a:avLst>
          </a:prstGeom>
          <a:solidFill>
            <a:srgbClr val="44D1E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1772878" y="1563588"/>
            <a:ext cx="264096" cy="2194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600"/>
              </a:lnSpc>
              <a:buNone/>
            </a:pPr>
            <a:r>
              <a:rPr lang="en-US" sz="1600" b="1" dirty="0">
                <a:solidFill>
                  <a:srgbClr val="122040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↑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530520" y="2020788"/>
            <a:ext cx="2749108" cy="3566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600"/>
              </a:lnSpc>
              <a:buNone/>
            </a:pPr>
            <a:r>
              <a:rPr lang="en-US" sz="2600" b="1" dirty="0">
                <a:solidFill>
                  <a:srgbClr val="44D1E4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VIX &lt; 18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1752600" y="2477988"/>
            <a:ext cx="304800" cy="25301"/>
          </a:xfrm>
          <a:prstGeom prst="rect">
            <a:avLst/>
          </a:prstGeom>
          <a:solidFill>
            <a:srgbClr val="44D1E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530520" y="2630239"/>
            <a:ext cx="2749108" cy="27437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000"/>
              </a:lnSpc>
              <a:buNone/>
            </a:pPr>
            <a:r>
              <a:rPr lang="en-US" sz="2000" b="1" dirty="0">
                <a:solidFill>
                  <a:srgbClr val="FFFFFF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62% WR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530520" y="2960489"/>
            <a:ext cx="2749108" cy="23049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680"/>
              </a:lnSpc>
              <a:spcBef>
                <a:spcPts val="600"/>
              </a:spcBef>
              <a:spcAft>
                <a:spcPts val="400"/>
              </a:spcAft>
              <a:buNone/>
            </a:pPr>
            <a:r>
              <a:rPr lang="en-US" sz="1400" b="1" dirty="0">
                <a:solidFill>
                  <a:srgbClr val="44D1E4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LONG SOLO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794858" y="3224659"/>
            <a:ext cx="2220434" cy="6336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540"/>
              </a:lnSpc>
              <a:buNone/>
            </a:pPr>
            <a:r>
              <a:rPr lang="en-US" sz="1100" dirty="0">
                <a:solidFill>
                  <a:srgbClr val="FFFFFF">
                    <a:alpha val="45000"/>
                  </a:srgbClr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Mercado estable. Alta probabilidad en posiciones largas.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3327350" y="1173212"/>
            <a:ext cx="2489150" cy="3563987"/>
          </a:xfrm>
          <a:prstGeom prst="roundRect">
            <a:avLst>
              <a:gd name="adj" fmla="val 5102"/>
            </a:avLst>
          </a:prstGeom>
          <a:solidFill>
            <a:srgbClr val="FFFFFF">
              <a:alpha val="6000"/>
            </a:srgbClr>
          </a:solidFill>
          <a:ln w="9525">
            <a:solidFill>
              <a:srgbClr val="FFFFFF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4343251" y="1436638"/>
            <a:ext cx="457200" cy="457200"/>
          </a:xfrm>
          <a:prstGeom prst="roundRect">
            <a:avLst>
              <a:gd name="adj" fmla="val 200000"/>
            </a:avLst>
          </a:prstGeom>
          <a:solidFill>
            <a:srgbClr val="EDCD8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4439729" y="1563588"/>
            <a:ext cx="264096" cy="2194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600"/>
              </a:lnSpc>
              <a:buNone/>
            </a:pPr>
            <a:r>
              <a:rPr lang="en-US" sz="1600" b="1" dirty="0">
                <a:solidFill>
                  <a:srgbClr val="122040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—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3197371" y="2020788"/>
            <a:ext cx="2749108" cy="3566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600"/>
              </a:lnSpc>
              <a:buNone/>
            </a:pPr>
            <a:r>
              <a:rPr lang="en-US" sz="2600" b="1" dirty="0">
                <a:solidFill>
                  <a:srgbClr val="EDCD82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VIX 18-25</a:t>
            </a:r>
            <a:endParaRPr lang="en-US" sz="2600" dirty="0"/>
          </a:p>
        </p:txBody>
      </p:sp>
      <p:sp>
        <p:nvSpPr>
          <p:cNvPr id="16" name="Text 14"/>
          <p:cNvSpPr/>
          <p:nvPr/>
        </p:nvSpPr>
        <p:spPr>
          <a:xfrm>
            <a:off x="4419451" y="2477988"/>
            <a:ext cx="304800" cy="25301"/>
          </a:xfrm>
          <a:prstGeom prst="rect">
            <a:avLst/>
          </a:prstGeom>
          <a:solidFill>
            <a:srgbClr val="EDCD8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3197371" y="2630239"/>
            <a:ext cx="2749108" cy="27437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000"/>
              </a:lnSpc>
              <a:buNone/>
            </a:pPr>
            <a:r>
              <a:rPr lang="en-US" sz="2000" b="1" dirty="0">
                <a:solidFill>
                  <a:srgbClr val="FFFFFF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46% WR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3197371" y="2960489"/>
            <a:ext cx="2749108" cy="23049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680"/>
              </a:lnSpc>
              <a:spcBef>
                <a:spcPts val="600"/>
              </a:spcBef>
              <a:spcAft>
                <a:spcPts val="400"/>
              </a:spcAft>
              <a:buNone/>
            </a:pPr>
            <a:r>
              <a:rPr lang="en-US" sz="1400" b="1" dirty="0">
                <a:solidFill>
                  <a:srgbClr val="EDCD82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EVITAR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3461709" y="3224659"/>
            <a:ext cx="2220434" cy="4224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540"/>
              </a:lnSpc>
              <a:buNone/>
            </a:pPr>
            <a:r>
              <a:rPr lang="en-US" sz="1100" dirty="0">
                <a:solidFill>
                  <a:srgbClr val="FFFFFF">
                    <a:alpha val="45000"/>
                  </a:srgbClr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Zona de ruido. Sin ventaja estadistica clara.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5994202" y="1173212"/>
            <a:ext cx="2489150" cy="3563987"/>
          </a:xfrm>
          <a:prstGeom prst="roundRect">
            <a:avLst>
              <a:gd name="adj" fmla="val 5102"/>
            </a:avLst>
          </a:prstGeom>
          <a:solidFill>
            <a:srgbClr val="FFFFFF">
              <a:alpha val="6000"/>
            </a:srgbClr>
          </a:solidFill>
          <a:ln w="9525">
            <a:solidFill>
              <a:srgbClr val="FFFFFF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Text 19"/>
          <p:cNvSpPr/>
          <p:nvPr/>
        </p:nvSpPr>
        <p:spPr>
          <a:xfrm>
            <a:off x="7010102" y="1436638"/>
            <a:ext cx="457200" cy="457200"/>
          </a:xfrm>
          <a:prstGeom prst="roundRect">
            <a:avLst>
              <a:gd name="adj" fmla="val 200000"/>
            </a:avLst>
          </a:prstGeom>
          <a:solidFill>
            <a:srgbClr val="E6517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Text 20"/>
          <p:cNvSpPr/>
          <p:nvPr/>
        </p:nvSpPr>
        <p:spPr>
          <a:xfrm>
            <a:off x="7106580" y="1563588"/>
            <a:ext cx="264096" cy="2194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6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↓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5864223" y="2020788"/>
            <a:ext cx="2749108" cy="3566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600"/>
              </a:lnSpc>
              <a:buNone/>
            </a:pPr>
            <a:r>
              <a:rPr lang="en-US" sz="2600" b="1" dirty="0">
                <a:solidFill>
                  <a:srgbClr val="E65174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VIX &gt; 25</a:t>
            </a:r>
            <a:endParaRPr lang="en-US" sz="2600" dirty="0"/>
          </a:p>
        </p:txBody>
      </p:sp>
      <p:sp>
        <p:nvSpPr>
          <p:cNvPr id="24" name="Text 22"/>
          <p:cNvSpPr/>
          <p:nvPr/>
        </p:nvSpPr>
        <p:spPr>
          <a:xfrm>
            <a:off x="7086302" y="2477988"/>
            <a:ext cx="304800" cy="25301"/>
          </a:xfrm>
          <a:prstGeom prst="rect">
            <a:avLst/>
          </a:prstGeom>
          <a:solidFill>
            <a:srgbClr val="E6517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5" name="Text 23"/>
          <p:cNvSpPr/>
          <p:nvPr/>
        </p:nvSpPr>
        <p:spPr>
          <a:xfrm>
            <a:off x="5864223" y="2630239"/>
            <a:ext cx="2749108" cy="27437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000"/>
              </a:lnSpc>
              <a:buNone/>
            </a:pPr>
            <a:r>
              <a:rPr lang="en-US" sz="2000" b="1" dirty="0">
                <a:solidFill>
                  <a:srgbClr val="FFFFFF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38% WR</a:t>
            </a:r>
            <a:endParaRPr lang="en-US" sz="2000" dirty="0"/>
          </a:p>
        </p:txBody>
      </p:sp>
      <p:sp>
        <p:nvSpPr>
          <p:cNvPr id="26" name="Text 24"/>
          <p:cNvSpPr/>
          <p:nvPr/>
        </p:nvSpPr>
        <p:spPr>
          <a:xfrm>
            <a:off x="5927663" y="2960489"/>
            <a:ext cx="2622227" cy="23049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680"/>
              </a:lnSpc>
              <a:spcBef>
                <a:spcPts val="600"/>
              </a:spcBef>
              <a:spcAft>
                <a:spcPts val="400"/>
              </a:spcAft>
              <a:buNone/>
            </a:pPr>
            <a:r>
              <a:rPr lang="en-US" sz="1400" b="1" dirty="0">
                <a:solidFill>
                  <a:srgbClr val="E65174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SHORT SOLO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6128560" y="3224659"/>
            <a:ext cx="2220434" cy="4224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540"/>
              </a:lnSpc>
              <a:buNone/>
            </a:pPr>
            <a:r>
              <a:rPr lang="en-US" sz="1100" dirty="0">
                <a:solidFill>
                  <a:srgbClr val="FFFFFF">
                    <a:alpha val="45000"/>
                  </a:srgbClr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Miedo extremo. Solo busqueda de cortos.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220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50750"/>
          </a:xfrm>
          <a:prstGeom prst="rect">
            <a:avLst/>
          </a:prstGeom>
          <a:solidFill>
            <a:srgbClr val="44D1E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0" y="50750"/>
            <a:ext cx="3301901" cy="5092750"/>
          </a:xfrm>
          <a:prstGeom prst="rect">
            <a:avLst/>
          </a:prstGeom>
          <a:solidFill>
            <a:srgbClr val="24355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355550" y="1168301"/>
            <a:ext cx="3393948" cy="3949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80"/>
              </a:lnSpc>
              <a:spcAft>
                <a:spcPts val="1200"/>
              </a:spcAft>
              <a:buNone/>
            </a:pPr>
            <a:r>
              <a:rPr lang="en-US" sz="2400" b="1" dirty="0">
                <a:solidFill>
                  <a:srgbClr val="FFFFFF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FILTRO QQQ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355550" y="1686371"/>
            <a:ext cx="2720340" cy="498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20"/>
              </a:lnSpc>
              <a:spcAft>
                <a:spcPts val="2000"/>
              </a:spcAft>
              <a:buNone/>
            </a:pPr>
            <a:r>
              <a:rPr lang="en-US" sz="1300" dirty="0">
                <a:solidFill>
                  <a:srgbClr val="FFFFFF">
                    <a:alpha val="70000"/>
                  </a:srgbClr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Correlacion con el sector tecnologico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355550" y="2402235"/>
            <a:ext cx="2590800" cy="1331714"/>
          </a:xfrm>
          <a:prstGeom prst="roundRect">
            <a:avLst>
              <a:gd name="adj" fmla="val 7629"/>
            </a:avLst>
          </a:prstGeom>
          <a:solidFill>
            <a:srgbClr val="44D1E4">
              <a:alpha val="12000"/>
            </a:srgbClr>
          </a:solidFill>
          <a:ln w="9525">
            <a:solidFill>
              <a:srgbClr val="44D1E4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568226" y="2614910"/>
            <a:ext cx="2815084" cy="36197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640"/>
              </a:lnSpc>
              <a:spcAft>
                <a:spcPts val="600"/>
              </a:spcAft>
              <a:buNone/>
            </a:pPr>
            <a:r>
              <a:rPr lang="en-US" sz="2200" b="1" dirty="0">
                <a:solidFill>
                  <a:srgbClr val="44D1E4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78% WR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568226" y="3026271"/>
            <a:ext cx="2273722" cy="53460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en NVDA cuando</a:t>
            </a:r>
            <a:endParaRPr lang="en-US" sz="1300" dirty="0"/>
          </a:p>
          <a:p>
            <a:pPr algn="l" indent="0" marL="0">
              <a:lnSpc>
                <a:spcPts val="195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QQQ &gt; +0.3%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355550" y="3987850"/>
            <a:ext cx="406301" cy="38100"/>
          </a:xfrm>
          <a:prstGeom prst="rect">
            <a:avLst/>
          </a:prstGeom>
          <a:solidFill>
            <a:srgbClr val="44D1E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3759101" y="665559"/>
            <a:ext cx="50750" cy="609600"/>
          </a:xfrm>
          <a:prstGeom prst="roundRect">
            <a:avLst>
              <a:gd name="adj" fmla="val 50049"/>
            </a:avLst>
          </a:prstGeom>
          <a:solidFill>
            <a:srgbClr val="44D1E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3962251" y="640259"/>
            <a:ext cx="5181749" cy="3071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40"/>
              </a:lnSpc>
              <a:spcAft>
                <a:spcPts val="400"/>
              </a:spcAft>
              <a:buNone/>
            </a:pPr>
            <a:r>
              <a:rPr lang="en-US" sz="1600" b="1" dirty="0">
                <a:solidFill>
                  <a:srgbClr val="FFFFFF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QQQ Positivo &gt; +0.3%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3962251" y="975420"/>
            <a:ext cx="4960776" cy="8641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400" dirty="0">
                <a:solidFill>
                  <a:srgbClr val="FFFFFF">
                    <a:alpha val="70000"/>
                  </a:srgbClr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Busca operaciones LONG en NVDA/TSLA. El sector tecnologico empuja los precios al alza. Mayor probabilidad de exito en largos.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3759101" y="2054721"/>
            <a:ext cx="50750" cy="609600"/>
          </a:xfrm>
          <a:prstGeom prst="roundRect">
            <a:avLst>
              <a:gd name="adj" fmla="val 50049"/>
            </a:avLst>
          </a:prstGeom>
          <a:solidFill>
            <a:srgbClr val="EDCD8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3962251" y="2029420"/>
            <a:ext cx="5181749" cy="3071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40"/>
              </a:lnSpc>
              <a:spcAft>
                <a:spcPts val="400"/>
              </a:spcAft>
              <a:buNone/>
            </a:pPr>
            <a:r>
              <a:rPr lang="en-US" sz="1600" b="1" dirty="0">
                <a:solidFill>
                  <a:srgbClr val="FFFFFF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QQQ Neutro -0.3% a +0.3%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3962251" y="2364581"/>
            <a:ext cx="4960776" cy="8641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400" dirty="0">
                <a:solidFill>
                  <a:srgbClr val="FFFFFF">
                    <a:alpha val="70000"/>
                  </a:srgbClr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Sin sesgo direccional claro. Reducir tamaño de posicion o esperar confirmacion adicional antes de entrar.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3759101" y="3443883"/>
            <a:ext cx="50750" cy="609600"/>
          </a:xfrm>
          <a:prstGeom prst="roundRect">
            <a:avLst>
              <a:gd name="adj" fmla="val 50049"/>
            </a:avLst>
          </a:prstGeom>
          <a:solidFill>
            <a:srgbClr val="E6517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3962251" y="3418582"/>
            <a:ext cx="5181749" cy="3071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40"/>
              </a:lnSpc>
              <a:spcAft>
                <a:spcPts val="400"/>
              </a:spcAft>
              <a:buNone/>
            </a:pPr>
            <a:r>
              <a:rPr lang="en-US" sz="1600" b="1" dirty="0">
                <a:solidFill>
                  <a:srgbClr val="FFFFFF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QQQ Negativo &lt; -0.3%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3962251" y="3753743"/>
            <a:ext cx="4960776" cy="8641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400" dirty="0">
                <a:solidFill>
                  <a:srgbClr val="FFFFFF">
                    <a:alpha val="70000"/>
                  </a:srgbClr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Solo buscar operaciones SHORT. El sector debil arrastra a NVDA/TSLA. Combinar con VIX &gt; 18 para mayor precision.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152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28575"/>
          </a:xfrm>
          <a:prstGeom prst="rect">
            <a:avLst/>
          </a:prstGeom>
          <a:solidFill>
            <a:srgbClr val="44D1E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58701" y="282476"/>
            <a:ext cx="8585299" cy="1509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1100" spc="200" kern="0" dirty="0">
                <a:solidFill>
                  <a:srgbClr val="44D1E4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SETUP 01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58701" y="472976"/>
            <a:ext cx="8585299" cy="36197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640"/>
              </a:lnSpc>
              <a:spcBef>
                <a:spcPts val="400"/>
              </a:spcBef>
              <a:buNone/>
            </a:pPr>
            <a:r>
              <a:rPr lang="en-US" sz="2200" b="1" dirty="0">
                <a:solidFill>
                  <a:srgbClr val="FFFFFF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Tendencia Limpia — Pullback en Tendencia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558701" y="935087"/>
            <a:ext cx="8026598" cy="742652"/>
          </a:xfrm>
          <a:prstGeom prst="roundRect">
            <a:avLst>
              <a:gd name="adj" fmla="val 10261"/>
            </a:avLst>
          </a:prstGeom>
          <a:solidFill>
            <a:srgbClr val="FFFFFF">
              <a:alpha val="6000"/>
            </a:srgbClr>
          </a:solidFill>
          <a:ln w="9525">
            <a:solidFill>
              <a:srgbClr val="FFFFFF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771376" y="1071563"/>
            <a:ext cx="304800" cy="304800"/>
          </a:xfrm>
          <a:prstGeom prst="roundRect">
            <a:avLst>
              <a:gd name="adj" fmla="val 300000"/>
            </a:avLst>
          </a:prstGeom>
          <a:solidFill>
            <a:srgbClr val="44D1E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885676" y="1147763"/>
            <a:ext cx="10515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1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203127" y="1071563"/>
            <a:ext cx="7886447" cy="2496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20"/>
              </a:lnSpc>
              <a:spcAft>
                <a:spcPts val="200"/>
              </a:spcAft>
              <a:buNone/>
            </a:pPr>
            <a:r>
              <a:rPr lang="en-US" sz="1400" b="1" dirty="0">
                <a:solidFill>
                  <a:srgbClr val="FFFFFF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Condicion de Tendencia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203127" y="1327993"/>
            <a:ext cx="7886447" cy="2303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FFFFFF">
                    <a:alpha val="65000"/>
                  </a:srgbClr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EMA 20 y 50 alineadas en 1H. Precio sobre ambas medias. MACD positivo en 4H.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58701" y="1779240"/>
            <a:ext cx="8026598" cy="742652"/>
          </a:xfrm>
          <a:prstGeom prst="roundRect">
            <a:avLst>
              <a:gd name="adj" fmla="val 10261"/>
            </a:avLst>
          </a:prstGeom>
          <a:solidFill>
            <a:srgbClr val="FFFFFF">
              <a:alpha val="6000"/>
            </a:srgbClr>
          </a:solidFill>
          <a:ln w="9525">
            <a:solidFill>
              <a:srgbClr val="FFFFFF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771376" y="1915716"/>
            <a:ext cx="304800" cy="304800"/>
          </a:xfrm>
          <a:prstGeom prst="roundRect">
            <a:avLst>
              <a:gd name="adj" fmla="val 300000"/>
            </a:avLst>
          </a:prstGeom>
          <a:solidFill>
            <a:srgbClr val="44D1E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885676" y="1991916"/>
            <a:ext cx="10515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2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1203127" y="1915716"/>
            <a:ext cx="7886447" cy="2496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20"/>
              </a:lnSpc>
              <a:spcAft>
                <a:spcPts val="200"/>
              </a:spcAft>
              <a:buNone/>
            </a:pPr>
            <a:r>
              <a:rPr lang="en-US" sz="1400" b="1" dirty="0">
                <a:solidFill>
                  <a:srgbClr val="FFFFFF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Zona de Pullback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203127" y="2172146"/>
            <a:ext cx="7886447" cy="2303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FFFFFF">
                    <a:alpha val="65000"/>
                  </a:srgbClr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Esperar retroceso a EMA 20 en 5M o zona de soporte en 1H. RSI entre 40-50.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558701" y="2623393"/>
            <a:ext cx="8026598" cy="742652"/>
          </a:xfrm>
          <a:prstGeom prst="roundRect">
            <a:avLst>
              <a:gd name="adj" fmla="val 10261"/>
            </a:avLst>
          </a:prstGeom>
          <a:solidFill>
            <a:srgbClr val="FFFFFF">
              <a:alpha val="6000"/>
            </a:srgbClr>
          </a:solidFill>
          <a:ln w="9525">
            <a:solidFill>
              <a:srgbClr val="FFFFFF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771376" y="2759869"/>
            <a:ext cx="304800" cy="304800"/>
          </a:xfrm>
          <a:prstGeom prst="roundRect">
            <a:avLst>
              <a:gd name="adj" fmla="val 300000"/>
            </a:avLst>
          </a:prstGeom>
          <a:solidFill>
            <a:srgbClr val="44D1E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885676" y="2836069"/>
            <a:ext cx="10515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3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1203127" y="2759869"/>
            <a:ext cx="7886447" cy="2496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20"/>
              </a:lnSpc>
              <a:spcAft>
                <a:spcPts val="200"/>
              </a:spcAft>
              <a:buNone/>
            </a:pPr>
            <a:r>
              <a:rPr lang="en-US" sz="1400" b="1" dirty="0">
                <a:solidFill>
                  <a:srgbClr val="FFFFFF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Confirmacion de Entrada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1203127" y="3016300"/>
            <a:ext cx="7886447" cy="2303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FFFFFF">
                    <a:alpha val="65000"/>
                  </a:srgbClr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Vela de rechazo en 1M (pin bar, engulfing). Volumen superior a la media en 5M.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558701" y="3467546"/>
            <a:ext cx="8026598" cy="742652"/>
          </a:xfrm>
          <a:prstGeom prst="roundRect">
            <a:avLst>
              <a:gd name="adj" fmla="val 10261"/>
            </a:avLst>
          </a:prstGeom>
          <a:solidFill>
            <a:srgbClr val="FFFFFF">
              <a:alpha val="6000"/>
            </a:srgbClr>
          </a:solidFill>
          <a:ln w="9525">
            <a:solidFill>
              <a:srgbClr val="FFFFFF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Text 19"/>
          <p:cNvSpPr/>
          <p:nvPr/>
        </p:nvSpPr>
        <p:spPr>
          <a:xfrm>
            <a:off x="771376" y="3604022"/>
            <a:ext cx="304800" cy="304800"/>
          </a:xfrm>
          <a:prstGeom prst="roundRect">
            <a:avLst>
              <a:gd name="adj" fmla="val 300000"/>
            </a:avLst>
          </a:prstGeom>
          <a:solidFill>
            <a:srgbClr val="44D1E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Text 20"/>
          <p:cNvSpPr/>
          <p:nvPr/>
        </p:nvSpPr>
        <p:spPr>
          <a:xfrm>
            <a:off x="885676" y="3680222"/>
            <a:ext cx="10515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4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1203127" y="3604022"/>
            <a:ext cx="7886447" cy="2496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20"/>
              </a:lnSpc>
              <a:spcAft>
                <a:spcPts val="200"/>
              </a:spcAft>
              <a:buNone/>
            </a:pPr>
            <a:r>
              <a:rPr lang="en-US" sz="1400" b="1" dirty="0">
                <a:solidFill>
                  <a:srgbClr val="FFFFFF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Stop Loss y Take Profit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1203127" y="3860453"/>
            <a:ext cx="7886447" cy="2303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FFFFFF">
                    <a:alpha val="65000"/>
                  </a:srgbClr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SL debajo del minimo del pullback. TP en proxima resistencia o extension 1:1.8.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2232571" y="4337149"/>
            <a:ext cx="4678710" cy="450800"/>
          </a:xfrm>
          <a:prstGeom prst="roundRect">
            <a:avLst>
              <a:gd name="adj" fmla="val 16903"/>
            </a:avLst>
          </a:prstGeom>
          <a:solidFill>
            <a:srgbClr val="44D1E4">
              <a:alpha val="12000"/>
            </a:srgbClr>
          </a:solidFill>
          <a:ln w="9525">
            <a:solidFill>
              <a:srgbClr val="44D1E4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6" name="Text 24"/>
          <p:cNvSpPr/>
          <p:nvPr/>
        </p:nvSpPr>
        <p:spPr>
          <a:xfrm>
            <a:off x="2597646" y="4473625"/>
            <a:ext cx="1101745" cy="1920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400" b="1" dirty="0">
                <a:solidFill>
                  <a:srgbClr val="44D1E4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WR: 62-67%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3740051" y="4473625"/>
            <a:ext cx="1039550" cy="1920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400" b="1" dirty="0">
                <a:solidFill>
                  <a:srgbClr val="EDCD82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R:R 1:1.8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4793605" y="4486275"/>
            <a:ext cx="20680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1200" dirty="0">
                <a:solidFill>
                  <a:srgbClr val="FFFFFF">
                    <a:alpha val="55000"/>
                  </a:srgbClr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Mejor setup en VIX &lt; 18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220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50750"/>
          </a:xfrm>
          <a:prstGeom prst="rect">
            <a:avLst/>
          </a:prstGeom>
          <a:solidFill>
            <a:srgbClr val="EDCD8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58701" y="304651"/>
            <a:ext cx="8585299" cy="1509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1100" spc="200" kern="0" dirty="0">
                <a:solidFill>
                  <a:srgbClr val="EDCD82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SETUP 02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58701" y="495151"/>
            <a:ext cx="8585299" cy="36197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640"/>
              </a:lnSpc>
              <a:spcBef>
                <a:spcPts val="400"/>
              </a:spcBef>
              <a:buNone/>
            </a:pPr>
            <a:r>
              <a:rPr lang="en-US" sz="2200" b="1" dirty="0">
                <a:solidFill>
                  <a:srgbClr val="FFFFFF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Gap and Go — Operaciones en Apertura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558701" y="957263"/>
            <a:ext cx="8026598" cy="723602"/>
          </a:xfrm>
          <a:prstGeom prst="rect">
            <a:avLst/>
          </a:prstGeom>
          <a:solidFill>
            <a:srgbClr val="FFFFFF">
              <a:alpha val="6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Shape 4"/>
          <p:cNvSpPr/>
          <p:nvPr/>
        </p:nvSpPr>
        <p:spPr>
          <a:xfrm>
            <a:off x="577751" y="957263"/>
            <a:ext cx="0" cy="723602"/>
          </a:xfrm>
          <a:prstGeom prst="line">
            <a:avLst/>
          </a:prstGeom>
          <a:noFill/>
          <a:ln w="38100">
            <a:solidFill>
              <a:srgbClr val="EDCD8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99951" y="1084213"/>
            <a:ext cx="304800" cy="304800"/>
          </a:xfrm>
          <a:prstGeom prst="roundRect">
            <a:avLst>
              <a:gd name="adj" fmla="val 300000"/>
            </a:avLst>
          </a:prstGeom>
          <a:solidFill>
            <a:srgbClr val="EDCD8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914251" y="1160413"/>
            <a:ext cx="10515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1200" b="1" dirty="0">
                <a:solidFill>
                  <a:srgbClr val="122040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1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231702" y="1084213"/>
            <a:ext cx="7865492" cy="2496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20"/>
              </a:lnSpc>
              <a:spcAft>
                <a:spcPts val="200"/>
              </a:spcAft>
              <a:buNone/>
            </a:pPr>
            <a:r>
              <a:rPr lang="en-US" sz="1400" b="1" dirty="0">
                <a:solidFill>
                  <a:srgbClr val="FFFFFF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Condiciones del Gap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231702" y="1340644"/>
            <a:ext cx="7865492" cy="2303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FFFFFF">
                    <a:alpha val="65000"/>
                  </a:srgbClr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Gap pre-market &gt; 1% en NVDA o TSLA. VIX &lt; 20 y QQQ positivo.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58701" y="1782366"/>
            <a:ext cx="8026598" cy="723602"/>
          </a:xfrm>
          <a:prstGeom prst="rect">
            <a:avLst/>
          </a:prstGeom>
          <a:solidFill>
            <a:srgbClr val="FFFFFF">
              <a:alpha val="6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Shape 10"/>
          <p:cNvSpPr/>
          <p:nvPr/>
        </p:nvSpPr>
        <p:spPr>
          <a:xfrm>
            <a:off x="577751" y="1782366"/>
            <a:ext cx="0" cy="723602"/>
          </a:xfrm>
          <a:prstGeom prst="line">
            <a:avLst/>
          </a:prstGeom>
          <a:noFill/>
          <a:ln w="38100">
            <a:solidFill>
              <a:srgbClr val="EDCD8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99951" y="1909316"/>
            <a:ext cx="304800" cy="304800"/>
          </a:xfrm>
          <a:prstGeom prst="roundRect">
            <a:avLst>
              <a:gd name="adj" fmla="val 300000"/>
            </a:avLst>
          </a:prstGeom>
          <a:solidFill>
            <a:srgbClr val="EDCD8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914251" y="1985516"/>
            <a:ext cx="10515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1200" b="1" dirty="0">
                <a:solidFill>
                  <a:srgbClr val="122040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2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231702" y="1909316"/>
            <a:ext cx="7865492" cy="2496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20"/>
              </a:lnSpc>
              <a:spcAft>
                <a:spcPts val="200"/>
              </a:spcAft>
              <a:buNone/>
            </a:pPr>
            <a:r>
              <a:rPr lang="en-US" sz="1400" b="1" dirty="0">
                <a:solidFill>
                  <a:srgbClr val="FFFFFF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Primera Vela de 5 Minutos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1231702" y="2165747"/>
            <a:ext cx="7865492" cy="2303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FFFFFF">
                    <a:alpha val="65000"/>
                  </a:srgbClr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Primera vela de 5M alcista. Cerrar arriba del 50% del rango del gap.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558701" y="2607469"/>
            <a:ext cx="8026598" cy="723602"/>
          </a:xfrm>
          <a:prstGeom prst="rect">
            <a:avLst/>
          </a:prstGeom>
          <a:solidFill>
            <a:srgbClr val="FFFFFF">
              <a:alpha val="6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Shape 16"/>
          <p:cNvSpPr/>
          <p:nvPr/>
        </p:nvSpPr>
        <p:spPr>
          <a:xfrm>
            <a:off x="577751" y="2607469"/>
            <a:ext cx="0" cy="723602"/>
          </a:xfrm>
          <a:prstGeom prst="line">
            <a:avLst/>
          </a:prstGeom>
          <a:noFill/>
          <a:ln w="38100">
            <a:solidFill>
              <a:srgbClr val="EDCD82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99951" y="2734419"/>
            <a:ext cx="304800" cy="304800"/>
          </a:xfrm>
          <a:prstGeom prst="roundRect">
            <a:avLst>
              <a:gd name="adj" fmla="val 300000"/>
            </a:avLst>
          </a:prstGeom>
          <a:solidFill>
            <a:srgbClr val="EDCD8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914251" y="2810619"/>
            <a:ext cx="10515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1200" b="1" dirty="0">
                <a:solidFill>
                  <a:srgbClr val="122040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3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1231702" y="2734419"/>
            <a:ext cx="7865492" cy="2496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20"/>
              </a:lnSpc>
              <a:spcAft>
                <a:spcPts val="200"/>
              </a:spcAft>
              <a:buNone/>
            </a:pPr>
            <a:r>
              <a:rPr lang="en-US" sz="1400" b="1" dirty="0">
                <a:solidFill>
                  <a:srgbClr val="FFFFFF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Entrada y Gestion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1231702" y="2990850"/>
            <a:ext cx="7865492" cy="2303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FFFFFF">
                    <a:alpha val="65000"/>
                  </a:srgbClr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Entrar en retroceso a VWAP o EMA 9 en 1M. SL debajo del minimo de la vela.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558701" y="3432572"/>
            <a:ext cx="8026598" cy="723602"/>
          </a:xfrm>
          <a:prstGeom prst="rect">
            <a:avLst/>
          </a:prstGeom>
          <a:solidFill>
            <a:srgbClr val="FFFFFF">
              <a:alpha val="6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4" name="Shape 22"/>
          <p:cNvSpPr/>
          <p:nvPr/>
        </p:nvSpPr>
        <p:spPr>
          <a:xfrm>
            <a:off x="577751" y="3432572"/>
            <a:ext cx="0" cy="723602"/>
          </a:xfrm>
          <a:prstGeom prst="line">
            <a:avLst/>
          </a:prstGeom>
          <a:noFill/>
          <a:ln w="38100">
            <a:solidFill>
              <a:srgbClr val="EDCD82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99951" y="3559522"/>
            <a:ext cx="304800" cy="304800"/>
          </a:xfrm>
          <a:prstGeom prst="roundRect">
            <a:avLst>
              <a:gd name="adj" fmla="val 300000"/>
            </a:avLst>
          </a:prstGeom>
          <a:solidFill>
            <a:srgbClr val="EDCD8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6" name="Text 24"/>
          <p:cNvSpPr/>
          <p:nvPr/>
        </p:nvSpPr>
        <p:spPr>
          <a:xfrm>
            <a:off x="914251" y="3635722"/>
            <a:ext cx="10515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1200" b="1" dirty="0">
                <a:solidFill>
                  <a:srgbClr val="122040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4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1231702" y="3559522"/>
            <a:ext cx="7865492" cy="2496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20"/>
              </a:lnSpc>
              <a:spcAft>
                <a:spcPts val="200"/>
              </a:spcAft>
              <a:buNone/>
            </a:pPr>
            <a:r>
              <a:rPr lang="en-US" sz="1400" b="1" dirty="0">
                <a:solidFill>
                  <a:srgbClr val="FFFFFF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Reglas de Exclusion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1231702" y="3815953"/>
            <a:ext cx="7865492" cy="2303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FFFFFF">
                    <a:alpha val="65000"/>
                  </a:srgbClr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No operar con noticias importantes a las 9:30. Evitar gap &gt; 3%.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2118271" y="4337149"/>
            <a:ext cx="4907310" cy="450800"/>
          </a:xfrm>
          <a:prstGeom prst="roundRect">
            <a:avLst>
              <a:gd name="adj" fmla="val 16903"/>
            </a:avLst>
          </a:prstGeom>
          <a:solidFill>
            <a:srgbClr val="EDCD82">
              <a:alpha val="12000"/>
            </a:srgbClr>
          </a:solidFill>
          <a:ln w="9525">
            <a:solidFill>
              <a:srgbClr val="EDCD82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0" name="Text 28"/>
          <p:cNvSpPr/>
          <p:nvPr/>
        </p:nvSpPr>
        <p:spPr>
          <a:xfrm>
            <a:off x="2483346" y="4473625"/>
            <a:ext cx="1101745" cy="1920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400" b="1" dirty="0">
                <a:solidFill>
                  <a:srgbClr val="EDCD82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WR: 58-63%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3625751" y="4473625"/>
            <a:ext cx="1039550" cy="1920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400" b="1" dirty="0">
                <a:solidFill>
                  <a:srgbClr val="44D1E4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R:R 1:2.2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4679305" y="4486275"/>
            <a:ext cx="233781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1200" dirty="0">
                <a:solidFill>
                  <a:srgbClr val="FFFFFF">
                    <a:alpha val="55000"/>
                  </a:srgbClr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Frecuencia: 1-2 por semana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D152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50750"/>
          </a:xfrm>
          <a:prstGeom prst="rect">
            <a:avLst/>
          </a:prstGeom>
          <a:solidFill>
            <a:srgbClr val="E6517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140398" y="608409"/>
            <a:ext cx="1122164" cy="1509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1100" spc="300" kern="0" dirty="0">
                <a:solidFill>
                  <a:srgbClr val="E65174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SETUP 03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274320" y="849660"/>
            <a:ext cx="8595211" cy="36197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640"/>
              </a:lnSpc>
              <a:spcBef>
                <a:spcPts val="800"/>
              </a:spcBef>
              <a:buNone/>
            </a:pPr>
            <a:r>
              <a:rPr lang="en-US" sz="2200" b="1" dirty="0">
                <a:solidFill>
                  <a:srgbClr val="FFFFFF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VIX Crash Reversal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2994660" y="1337221"/>
            <a:ext cx="3154680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7200"/>
              </a:lnSpc>
              <a:spcBef>
                <a:spcPts val="1200"/>
              </a:spcBef>
              <a:buNone/>
            </a:pPr>
            <a:r>
              <a:rPr lang="en-US" sz="7200" b="1" dirty="0">
                <a:solidFill>
                  <a:srgbClr val="E65174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69.6%</a:t>
            </a:r>
            <a:endParaRPr lang="en-US" sz="7200" dirty="0"/>
          </a:p>
        </p:txBody>
      </p:sp>
      <p:sp>
        <p:nvSpPr>
          <p:cNvPr id="6" name="Text 4"/>
          <p:cNvSpPr/>
          <p:nvPr/>
        </p:nvSpPr>
        <p:spPr>
          <a:xfrm>
            <a:off x="2616637" y="2327821"/>
            <a:ext cx="3910727" cy="2632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920"/>
              </a:lnSpc>
              <a:spcBef>
                <a:spcPts val="600"/>
              </a:spcBef>
              <a:buNone/>
            </a:pPr>
            <a:r>
              <a:rPr lang="en-US" sz="1600" dirty="0">
                <a:solidFill>
                  <a:srgbClr val="FFFFFF">
                    <a:alpha val="70000"/>
                  </a:srgbClr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Win Rate cuando VIX spike +3 puntos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485558" y="2673102"/>
            <a:ext cx="6172885" cy="2316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690"/>
              </a:lnSpc>
              <a:spcBef>
                <a:spcPts val="800"/>
              </a:spcBef>
              <a:buNone/>
            </a:pPr>
            <a:r>
              <a:rPr lang="en-US" sz="1300" dirty="0">
                <a:solidFill>
                  <a:srgbClr val="FFFFFF">
                    <a:alpha val="50000"/>
                  </a:srgbClr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Reversion al dia siguiente: VIX sube +3, NVDA/TSLA revierten al alza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2690068" y="3141464"/>
            <a:ext cx="3763714" cy="1444377"/>
          </a:xfrm>
          <a:prstGeom prst="roundRect">
            <a:avLst>
              <a:gd name="adj" fmla="val 7034"/>
            </a:avLst>
          </a:prstGeom>
          <a:solidFill>
            <a:srgbClr val="FFFFFF">
              <a:alpha val="6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2822461" y="3573214"/>
            <a:ext cx="1252219" cy="3016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200"/>
              </a:lnSpc>
              <a:spcBef>
                <a:spcPts val="2200"/>
              </a:spcBef>
              <a:spcAft>
                <a:spcPts val="2200"/>
              </a:spcAft>
              <a:buNone/>
            </a:pPr>
            <a:r>
              <a:rPr lang="en-US" sz="2200" b="1" dirty="0">
                <a:solidFill>
                  <a:srgbClr val="44D1E4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+2.06%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2885980" y="4131915"/>
            <a:ext cx="1125182" cy="1748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300"/>
              </a:spcBef>
              <a:spcAft>
                <a:spcPts val="1100"/>
              </a:spcAft>
              <a:buNone/>
            </a:pPr>
            <a:r>
              <a:rPr lang="en-US" sz="1100" dirty="0">
                <a:solidFill>
                  <a:srgbClr val="FFFFFF">
                    <a:alpha val="45000"/>
                  </a:srgbClr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Retorno medio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111941" y="3573214"/>
            <a:ext cx="1059570" cy="3016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200"/>
              </a:lnSpc>
              <a:spcBef>
                <a:spcPts val="2200"/>
              </a:spcBef>
              <a:spcAft>
                <a:spcPts val="2200"/>
              </a:spcAft>
              <a:buNone/>
            </a:pPr>
            <a:r>
              <a:rPr lang="en-US" sz="2200" b="1" dirty="0">
                <a:solidFill>
                  <a:srgbClr val="EDCD82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1:2.5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4165687" y="4131915"/>
            <a:ext cx="952077" cy="1748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300"/>
              </a:spcBef>
              <a:spcAft>
                <a:spcPts val="1100"/>
              </a:spcAft>
              <a:buNone/>
            </a:pPr>
            <a:r>
              <a:rPr lang="en-US" sz="1100" dirty="0">
                <a:solidFill>
                  <a:srgbClr val="FFFFFF">
                    <a:alpha val="45000"/>
                  </a:srgbClr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Risk/Reward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235296" y="3573214"/>
            <a:ext cx="1059570" cy="3016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200"/>
              </a:lnSpc>
              <a:spcBef>
                <a:spcPts val="2200"/>
              </a:spcBef>
              <a:spcAft>
                <a:spcPts val="2200"/>
              </a:spcAft>
              <a:buNone/>
            </a:pPr>
            <a:r>
              <a:rPr lang="en-US" sz="2200" b="1" dirty="0">
                <a:solidFill>
                  <a:srgbClr val="E65174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3-5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5289042" y="4131915"/>
            <a:ext cx="952077" cy="1748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300"/>
              </a:spcBef>
              <a:spcAft>
                <a:spcPts val="1100"/>
              </a:spcAft>
              <a:buNone/>
            </a:pPr>
            <a:r>
              <a:rPr lang="en-US" sz="1100" dirty="0">
                <a:solidFill>
                  <a:srgbClr val="FFFFFF">
                    <a:alpha val="45000"/>
                  </a:srgbClr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Ops por mes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220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50750"/>
          </a:xfrm>
          <a:prstGeom prst="rect">
            <a:avLst/>
          </a:prstGeom>
          <a:solidFill>
            <a:srgbClr val="E6517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58701" y="279350"/>
            <a:ext cx="8585299" cy="1509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1100" spc="200" kern="0" dirty="0">
                <a:solidFill>
                  <a:srgbClr val="E65174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SETUP 04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58701" y="469850"/>
            <a:ext cx="8585299" cy="36197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640"/>
              </a:lnSpc>
              <a:spcBef>
                <a:spcPts val="400"/>
              </a:spcBef>
              <a:buNone/>
            </a:pPr>
            <a:r>
              <a:rPr lang="en-US" sz="2200" b="1" dirty="0">
                <a:solidFill>
                  <a:srgbClr val="FFFFFF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Short en Miedo — Alta Probabilidad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558701" y="931962"/>
            <a:ext cx="8026598" cy="679400"/>
          </a:xfrm>
          <a:prstGeom prst="roundRect">
            <a:avLst>
              <a:gd name="adj" fmla="val 14954"/>
            </a:avLst>
          </a:prstGeom>
          <a:solidFill>
            <a:srgbClr val="E65174">
              <a:alpha val="12000"/>
            </a:srgbClr>
          </a:solidFill>
          <a:ln w="9525">
            <a:solidFill>
              <a:srgbClr val="E65174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2423071" y="1093887"/>
            <a:ext cx="1386647" cy="3839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2800" b="1" dirty="0">
                <a:solidFill>
                  <a:srgbClr val="E65174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85% WR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3667423" y="1164431"/>
            <a:ext cx="3358857" cy="2316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90"/>
              </a:lnSpc>
              <a:buNone/>
            </a:pPr>
            <a:r>
              <a:rPr lang="en-US" sz="1300" dirty="0">
                <a:solidFill>
                  <a:srgbClr val="FFFFFF">
                    <a:alpha val="65000"/>
                  </a:srgbClr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Short en NVDA: VIX &gt; 18 + QQQ &lt; -0.3%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58701" y="1738313"/>
            <a:ext cx="8026598" cy="717352"/>
          </a:xfrm>
          <a:prstGeom prst="roundRect">
            <a:avLst>
              <a:gd name="adj" fmla="val 10622"/>
            </a:avLst>
          </a:prstGeom>
          <a:solidFill>
            <a:srgbClr val="FFFFFF">
              <a:alpha val="6000"/>
            </a:srgbClr>
          </a:solidFill>
          <a:ln w="9525">
            <a:solidFill>
              <a:srgbClr val="FFFFFF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745927" y="1862138"/>
            <a:ext cx="304800" cy="304800"/>
          </a:xfrm>
          <a:prstGeom prst="roundRect">
            <a:avLst>
              <a:gd name="adj" fmla="val 300000"/>
            </a:avLst>
          </a:prstGeom>
          <a:solidFill>
            <a:srgbClr val="E6517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860227" y="1938337"/>
            <a:ext cx="10515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1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177677" y="1862138"/>
            <a:ext cx="7942436" cy="2496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20"/>
              </a:lnSpc>
              <a:spcAft>
                <a:spcPts val="200"/>
              </a:spcAft>
              <a:buNone/>
            </a:pPr>
            <a:r>
              <a:rPr lang="en-US" sz="1400" b="1" dirty="0">
                <a:solidFill>
                  <a:srgbClr val="FFFFFF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Condiciones del Mercado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177677" y="2118568"/>
            <a:ext cx="7942436" cy="2303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FFFFFF">
                    <a:alpha val="65000"/>
                  </a:srgbClr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VIX &gt; 18 y QQQ &lt; -0.3% al abrir. Miedo en el mercado. NVDA rompe soporte clave.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558701" y="2557165"/>
            <a:ext cx="8026598" cy="717352"/>
          </a:xfrm>
          <a:prstGeom prst="roundRect">
            <a:avLst>
              <a:gd name="adj" fmla="val 10622"/>
            </a:avLst>
          </a:prstGeom>
          <a:solidFill>
            <a:srgbClr val="FFFFFF">
              <a:alpha val="6000"/>
            </a:srgbClr>
          </a:solidFill>
          <a:ln w="9525">
            <a:solidFill>
              <a:srgbClr val="FFFFFF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745927" y="2680990"/>
            <a:ext cx="304800" cy="304800"/>
          </a:xfrm>
          <a:prstGeom prst="roundRect">
            <a:avLst>
              <a:gd name="adj" fmla="val 300000"/>
            </a:avLst>
          </a:prstGeom>
          <a:solidFill>
            <a:srgbClr val="E6517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860227" y="2757190"/>
            <a:ext cx="10515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2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1177677" y="2680990"/>
            <a:ext cx="7942436" cy="2496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20"/>
              </a:lnSpc>
              <a:spcAft>
                <a:spcPts val="200"/>
              </a:spcAft>
              <a:buNone/>
            </a:pPr>
            <a:r>
              <a:rPr lang="en-US" sz="1400" b="1" dirty="0">
                <a:solidFill>
                  <a:srgbClr val="FFFFFF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Entrada en Corto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177677" y="2937421"/>
            <a:ext cx="7942436" cy="2303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FFFFFF">
                    <a:alpha val="65000"/>
                  </a:srgbClr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Esperar pullback a resistencia menor en 5M. Entrar con vela de rechazo y volumen.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558701" y="3376017"/>
            <a:ext cx="8026598" cy="717352"/>
          </a:xfrm>
          <a:prstGeom prst="roundRect">
            <a:avLst>
              <a:gd name="adj" fmla="val 10622"/>
            </a:avLst>
          </a:prstGeom>
          <a:solidFill>
            <a:srgbClr val="FFFFFF">
              <a:alpha val="6000"/>
            </a:srgbClr>
          </a:solidFill>
          <a:ln w="9525">
            <a:solidFill>
              <a:srgbClr val="FFFFFF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745927" y="3499842"/>
            <a:ext cx="304800" cy="304800"/>
          </a:xfrm>
          <a:prstGeom prst="roundRect">
            <a:avLst>
              <a:gd name="adj" fmla="val 300000"/>
            </a:avLst>
          </a:prstGeom>
          <a:solidFill>
            <a:srgbClr val="E6517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860227" y="3576042"/>
            <a:ext cx="10515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3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1177677" y="3499842"/>
            <a:ext cx="7942436" cy="2496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20"/>
              </a:lnSpc>
              <a:spcAft>
                <a:spcPts val="200"/>
              </a:spcAft>
              <a:buNone/>
            </a:pPr>
            <a:r>
              <a:rPr lang="en-US" sz="1400" b="1" dirty="0">
                <a:solidFill>
                  <a:srgbClr val="FFFFFF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Stop Loss y Salida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1177677" y="3756273"/>
            <a:ext cx="7942436" cy="2303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FFFFFF">
                    <a:alpha val="65000"/>
                  </a:srgbClr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SL sobre el maximo del pullback. TP en soporte inferior o trailing stop 1:2.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2422922" y="4438799"/>
            <a:ext cx="4298007" cy="399901"/>
          </a:xfrm>
          <a:prstGeom prst="roundRect">
            <a:avLst>
              <a:gd name="adj" fmla="val 19055"/>
            </a:avLst>
          </a:prstGeom>
          <a:solidFill>
            <a:srgbClr val="44D1E4">
              <a:alpha val="8000"/>
            </a:srgbClr>
          </a:solidFill>
          <a:ln w="9525">
            <a:solidFill>
              <a:srgbClr val="44D1E4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4" name="Text 22"/>
          <p:cNvSpPr/>
          <p:nvPr/>
        </p:nvSpPr>
        <p:spPr>
          <a:xfrm>
            <a:off x="2737247" y="4549825"/>
            <a:ext cx="693033" cy="1920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400" b="1" dirty="0">
                <a:solidFill>
                  <a:srgbClr val="E65174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85% WR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3524250" y="4549825"/>
            <a:ext cx="1039550" cy="1920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400" b="1" dirty="0">
                <a:solidFill>
                  <a:srgbClr val="EDCD82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R:R 1:2.0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4577804" y="4562475"/>
            <a:ext cx="21579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1200" dirty="0">
                <a:solidFill>
                  <a:srgbClr val="FFFFFF">
                    <a:alpha val="50000"/>
                  </a:srgbClr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Setup de mayor confianza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D152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304800"/>
            <a:ext cx="8636000" cy="3949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880"/>
              </a:lnSpc>
              <a:buNone/>
            </a:pPr>
            <a:r>
              <a:rPr lang="en-US" sz="2400" b="1" dirty="0">
                <a:solidFill>
                  <a:srgbClr val="FFFFFF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Gestion de Riesgo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157371" y="721221"/>
            <a:ext cx="8636000" cy="21393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560"/>
              </a:lnSpc>
              <a:spcBef>
                <a:spcPts val="400"/>
              </a:spcBef>
              <a:buNone/>
            </a:pPr>
            <a:r>
              <a:rPr lang="en-US" sz="1200" dirty="0">
                <a:solidFill>
                  <a:srgbClr val="FFFFFF">
                    <a:alpha val="45000"/>
                  </a:srgbClr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Reglas estrictas para proteger el capital en prop trading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84299" y="1097012"/>
            <a:ext cx="1879550" cy="3118545"/>
          </a:xfrm>
          <a:prstGeom prst="roundRect">
            <a:avLst>
              <a:gd name="adj" fmla="val 6757"/>
            </a:avLst>
          </a:prstGeom>
          <a:solidFill>
            <a:srgbClr val="FFFFFF">
              <a:alpha val="6000"/>
            </a:srgbClr>
          </a:solidFill>
          <a:ln w="9525">
            <a:solidFill>
              <a:srgbClr val="FFFFFF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1320850" y="1309688"/>
            <a:ext cx="406301" cy="406301"/>
          </a:xfrm>
          <a:prstGeom prst="roundRect">
            <a:avLst>
              <a:gd name="adj" fmla="val 225055"/>
            </a:avLst>
          </a:prstGeom>
          <a:solidFill>
            <a:srgbClr val="E6517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1453787" y="1411188"/>
            <a:ext cx="140276" cy="2194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6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!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415521" y="1817489"/>
            <a:ext cx="2217107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400"/>
              </a:lnSpc>
              <a:buNone/>
            </a:pPr>
            <a:r>
              <a:rPr lang="en-US" sz="2400" b="1" dirty="0">
                <a:solidFill>
                  <a:srgbClr val="E65174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2-3%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1397050" y="2223790"/>
            <a:ext cx="253901" cy="25301"/>
          </a:xfrm>
          <a:prstGeom prst="rect">
            <a:avLst/>
          </a:prstGeom>
          <a:solidFill>
            <a:srgbClr val="E6517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680610" y="2350591"/>
            <a:ext cx="1686930" cy="42755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56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Perdida Maxima</a:t>
            </a:r>
            <a:endParaRPr lang="en-US" sz="1300" dirty="0"/>
          </a:p>
          <a:p>
            <a:pPr algn="ctr" indent="0" marL="0">
              <a:lnSpc>
                <a:spcPts val="156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Diaria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80610" y="2797225"/>
            <a:ext cx="1686930" cy="3921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430"/>
              </a:lnSpc>
              <a:spcBef>
                <a:spcPts val="400"/>
              </a:spcBef>
              <a:buNone/>
            </a:pPr>
            <a:r>
              <a:rPr lang="en-US" sz="1100" dirty="0">
                <a:solidFill>
                  <a:srgbClr val="FFFFFF">
                    <a:alpha val="40000"/>
                  </a:srgbClr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Detener trading al limite.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2616250" y="1097012"/>
            <a:ext cx="1879550" cy="3118545"/>
          </a:xfrm>
          <a:prstGeom prst="roundRect">
            <a:avLst>
              <a:gd name="adj" fmla="val 6757"/>
            </a:avLst>
          </a:prstGeom>
          <a:solidFill>
            <a:srgbClr val="FFFFFF">
              <a:alpha val="6000"/>
            </a:srgbClr>
          </a:solidFill>
          <a:ln w="9525">
            <a:solidFill>
              <a:srgbClr val="FFFFFF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3352800" y="1309688"/>
            <a:ext cx="406301" cy="406301"/>
          </a:xfrm>
          <a:prstGeom prst="roundRect">
            <a:avLst>
              <a:gd name="adj" fmla="val 225055"/>
            </a:avLst>
          </a:prstGeom>
          <a:solidFill>
            <a:srgbClr val="44D1E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3485738" y="1411188"/>
            <a:ext cx="140276" cy="2194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600"/>
              </a:lnSpc>
              <a:buNone/>
            </a:pPr>
            <a:r>
              <a:rPr lang="en-US" sz="1600" b="1" dirty="0">
                <a:solidFill>
                  <a:srgbClr val="122040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$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2447471" y="1817489"/>
            <a:ext cx="2217107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400"/>
              </a:lnSpc>
              <a:buNone/>
            </a:pPr>
            <a:r>
              <a:rPr lang="en-US" sz="2400" b="1" dirty="0">
                <a:solidFill>
                  <a:srgbClr val="44D1E4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0.5-1%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3429000" y="2223790"/>
            <a:ext cx="253901" cy="25301"/>
          </a:xfrm>
          <a:prstGeom prst="rect">
            <a:avLst/>
          </a:prstGeom>
          <a:solidFill>
            <a:srgbClr val="44D1E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2712560" y="2350591"/>
            <a:ext cx="1686930" cy="42755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56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Riesgo por</a:t>
            </a:r>
            <a:endParaRPr lang="en-US" sz="1300" dirty="0"/>
          </a:p>
          <a:p>
            <a:pPr algn="ctr" indent="0" marL="0">
              <a:lnSpc>
                <a:spcPts val="156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Operacion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2608131" y="2797225"/>
            <a:ext cx="1895788" cy="196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430"/>
              </a:lnSpc>
              <a:spcBef>
                <a:spcPts val="400"/>
              </a:spcBef>
              <a:buNone/>
            </a:pPr>
            <a:r>
              <a:rPr lang="en-US" sz="1100" dirty="0">
                <a:solidFill>
                  <a:srgbClr val="FFFFFF">
                    <a:alpha val="40000"/>
                  </a:srgbClr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Max 1% del capital.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648200" y="1097012"/>
            <a:ext cx="1879550" cy="3118545"/>
          </a:xfrm>
          <a:prstGeom prst="roundRect">
            <a:avLst>
              <a:gd name="adj" fmla="val 6757"/>
            </a:avLst>
          </a:prstGeom>
          <a:solidFill>
            <a:srgbClr val="FFFFFF">
              <a:alpha val="6000"/>
            </a:srgbClr>
          </a:solidFill>
          <a:ln w="9525">
            <a:solidFill>
              <a:srgbClr val="FFFFFF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5384750" y="1309688"/>
            <a:ext cx="406301" cy="406301"/>
          </a:xfrm>
          <a:prstGeom prst="roundRect">
            <a:avLst>
              <a:gd name="adj" fmla="val 225055"/>
            </a:avLst>
          </a:prstGeom>
          <a:solidFill>
            <a:srgbClr val="EDCD8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5521754" y="1411188"/>
            <a:ext cx="132144" cy="2194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600"/>
              </a:lnSpc>
              <a:buNone/>
            </a:pPr>
            <a:r>
              <a:rPr lang="en-US" sz="1600" b="1" dirty="0">
                <a:solidFill>
                  <a:srgbClr val="122040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X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4543685" y="1817489"/>
            <a:ext cx="208857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400"/>
              </a:lnSpc>
              <a:buNone/>
            </a:pPr>
            <a:r>
              <a:rPr lang="en-US" sz="2400" b="1" dirty="0">
                <a:solidFill>
                  <a:srgbClr val="EDCD82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3 Ops</a:t>
            </a:r>
            <a:endParaRPr lang="en-US" sz="2400" dirty="0"/>
          </a:p>
        </p:txBody>
      </p:sp>
      <p:sp>
        <p:nvSpPr>
          <p:cNvPr id="22" name="Text 20"/>
          <p:cNvSpPr/>
          <p:nvPr/>
        </p:nvSpPr>
        <p:spPr>
          <a:xfrm>
            <a:off x="5460950" y="2223790"/>
            <a:ext cx="253901" cy="25301"/>
          </a:xfrm>
          <a:prstGeom prst="rect">
            <a:avLst/>
          </a:prstGeom>
          <a:solidFill>
            <a:srgbClr val="EDCD8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3" name="Text 21"/>
          <p:cNvSpPr/>
          <p:nvPr/>
        </p:nvSpPr>
        <p:spPr>
          <a:xfrm>
            <a:off x="4744510" y="2350591"/>
            <a:ext cx="1686930" cy="42755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56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Max Perdidas</a:t>
            </a:r>
            <a:endParaRPr lang="en-US" sz="1300" dirty="0"/>
          </a:p>
          <a:p>
            <a:pPr algn="ctr" indent="0" marL="0">
              <a:lnSpc>
                <a:spcPts val="156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Seguidas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4640081" y="2797225"/>
            <a:ext cx="1895788" cy="196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430"/>
              </a:lnSpc>
              <a:spcBef>
                <a:spcPts val="400"/>
              </a:spcBef>
              <a:buNone/>
            </a:pPr>
            <a:r>
              <a:rPr lang="en-US" sz="1100" dirty="0">
                <a:solidFill>
                  <a:srgbClr val="FFFFFF">
                    <a:alpha val="40000"/>
                  </a:srgbClr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3 perdidos = parar.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6680150" y="1097012"/>
            <a:ext cx="1879550" cy="3118545"/>
          </a:xfrm>
          <a:prstGeom prst="roundRect">
            <a:avLst>
              <a:gd name="adj" fmla="val 6757"/>
            </a:avLst>
          </a:prstGeom>
          <a:solidFill>
            <a:srgbClr val="FFFFFF">
              <a:alpha val="6000"/>
            </a:srgbClr>
          </a:solidFill>
          <a:ln w="9525">
            <a:solidFill>
              <a:srgbClr val="FFFFFF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6" name="Text 24"/>
          <p:cNvSpPr/>
          <p:nvPr/>
        </p:nvSpPr>
        <p:spPr>
          <a:xfrm>
            <a:off x="7416701" y="1309688"/>
            <a:ext cx="406301" cy="406301"/>
          </a:xfrm>
          <a:prstGeom prst="roundRect">
            <a:avLst>
              <a:gd name="adj" fmla="val 225055"/>
            </a:avLst>
          </a:prstGeom>
          <a:solidFill>
            <a:srgbClr val="44D1E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7" name="Text 25"/>
          <p:cNvSpPr/>
          <p:nvPr/>
        </p:nvSpPr>
        <p:spPr>
          <a:xfrm>
            <a:off x="7508409" y="1411188"/>
            <a:ext cx="222885" cy="2194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600"/>
              </a:lnSpc>
              <a:buNone/>
            </a:pPr>
            <a:r>
              <a:rPr lang="en-US" sz="1600" b="1" dirty="0">
                <a:solidFill>
                  <a:srgbClr val="122040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✓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6511372" y="1817489"/>
            <a:ext cx="2217107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400"/>
              </a:lnSpc>
              <a:buNone/>
            </a:pPr>
            <a:r>
              <a:rPr lang="en-US" sz="2400" b="1" dirty="0">
                <a:solidFill>
                  <a:srgbClr val="44D1E4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1-2%</a:t>
            </a:r>
            <a:endParaRPr lang="en-US" sz="2400" dirty="0"/>
          </a:p>
        </p:txBody>
      </p:sp>
      <p:sp>
        <p:nvSpPr>
          <p:cNvPr id="29" name="Text 27"/>
          <p:cNvSpPr/>
          <p:nvPr/>
        </p:nvSpPr>
        <p:spPr>
          <a:xfrm>
            <a:off x="7492901" y="2223790"/>
            <a:ext cx="253901" cy="25301"/>
          </a:xfrm>
          <a:prstGeom prst="rect">
            <a:avLst/>
          </a:prstGeom>
          <a:solidFill>
            <a:srgbClr val="44D1E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0" name="Text 28"/>
          <p:cNvSpPr/>
          <p:nvPr/>
        </p:nvSpPr>
        <p:spPr>
          <a:xfrm>
            <a:off x="6776461" y="2350591"/>
            <a:ext cx="1686930" cy="42755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56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Objetivo</a:t>
            </a:r>
            <a:endParaRPr lang="en-US" sz="1300" dirty="0"/>
          </a:p>
          <a:p>
            <a:pPr algn="ctr" indent="0" marL="0">
              <a:lnSpc>
                <a:spcPts val="156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Beneficio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6776461" y="2797225"/>
            <a:ext cx="1686930" cy="3921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430"/>
              </a:lnSpc>
              <a:spcBef>
                <a:spcPts val="400"/>
              </a:spcBef>
              <a:buNone/>
            </a:pPr>
            <a:r>
              <a:rPr lang="en-US" sz="1100" dirty="0">
                <a:solidFill>
                  <a:srgbClr val="FFFFFF">
                    <a:alpha val="40000"/>
                  </a:srgbClr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Meta conservadora diaria.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1908274" y="4367808"/>
            <a:ext cx="5327452" cy="420142"/>
          </a:xfrm>
          <a:prstGeom prst="roundRect">
            <a:avLst>
              <a:gd name="adj" fmla="val 18137"/>
            </a:avLst>
          </a:prstGeom>
          <a:solidFill>
            <a:srgbClr val="E65174">
              <a:alpha val="8000"/>
            </a:srgbClr>
          </a:solidFill>
          <a:ln w="9525">
            <a:solidFill>
              <a:srgbClr val="E65174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3" name="Text 31"/>
          <p:cNvSpPr/>
          <p:nvPr/>
        </p:nvSpPr>
        <p:spPr>
          <a:xfrm>
            <a:off x="1931670" y="4478834"/>
            <a:ext cx="5280660" cy="21393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560"/>
              </a:lnSpc>
              <a:buNone/>
            </a:pPr>
            <a:r>
              <a:rPr lang="en-US" sz="1200" b="1" dirty="0">
                <a:solidFill>
                  <a:srgbClr val="E65174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REGLA DE ORO: Nunca mover el stop loss en contra de la posicion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220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50750"/>
          </a:xfrm>
          <a:prstGeom prst="rect">
            <a:avLst/>
          </a:prstGeom>
          <a:solidFill>
            <a:srgbClr val="44D1E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58701" y="279350"/>
            <a:ext cx="8585299" cy="1509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1100" spc="200" kern="0" dirty="0">
                <a:solidFill>
                  <a:srgbClr val="44D1E4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PRE-MARKET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58701" y="469850"/>
            <a:ext cx="8585299" cy="36197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640"/>
              </a:lnSpc>
              <a:spcBef>
                <a:spcPts val="400"/>
              </a:spcBef>
              <a:buNone/>
            </a:pPr>
            <a:r>
              <a:rPr lang="en-US" sz="2200" b="1" dirty="0">
                <a:solidFill>
                  <a:srgbClr val="FFFFFF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Checklist Diario — Antes de Operar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507950" y="931962"/>
            <a:ext cx="3987850" cy="501402"/>
          </a:xfrm>
          <a:prstGeom prst="roundRect">
            <a:avLst>
              <a:gd name="adj" fmla="val 15197"/>
            </a:avLst>
          </a:prstGeom>
          <a:solidFill>
            <a:srgbClr val="FFFFFF">
              <a:alpha val="6000"/>
            </a:srgbClr>
          </a:solidFill>
          <a:ln w="9525">
            <a:solidFill>
              <a:srgbClr val="FFFFFF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669875" y="1042988"/>
            <a:ext cx="279350" cy="279350"/>
          </a:xfrm>
          <a:prstGeom prst="roundRect">
            <a:avLst>
              <a:gd name="adj" fmla="val 327331"/>
            </a:avLst>
          </a:prstGeom>
          <a:noFill/>
          <a:ln w="19050">
            <a:solidFill>
              <a:srgbClr val="44D1E4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774650" y="1112788"/>
            <a:ext cx="96325" cy="1509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1100" b="1" dirty="0">
                <a:solidFill>
                  <a:srgbClr val="44D1E4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1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050727" y="1042988"/>
            <a:ext cx="2967228" cy="2303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FFFFFF">
                    <a:alpha val="85000"/>
                  </a:srgbClr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Revisar nivel del VIX y tendencia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07950" y="1509564"/>
            <a:ext cx="3987850" cy="501402"/>
          </a:xfrm>
          <a:prstGeom prst="roundRect">
            <a:avLst>
              <a:gd name="adj" fmla="val 15197"/>
            </a:avLst>
          </a:prstGeom>
          <a:solidFill>
            <a:srgbClr val="FFFFFF">
              <a:alpha val="6000"/>
            </a:srgbClr>
          </a:solidFill>
          <a:ln w="9525">
            <a:solidFill>
              <a:srgbClr val="FFFFFF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669875" y="1620589"/>
            <a:ext cx="279350" cy="279350"/>
          </a:xfrm>
          <a:prstGeom prst="roundRect">
            <a:avLst>
              <a:gd name="adj" fmla="val 327331"/>
            </a:avLst>
          </a:prstGeom>
          <a:noFill/>
          <a:ln w="19050">
            <a:solidFill>
              <a:srgbClr val="44D1E4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774650" y="1690390"/>
            <a:ext cx="96325" cy="1509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1100" b="1" dirty="0">
                <a:solidFill>
                  <a:srgbClr val="44D1E4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2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1050727" y="1620589"/>
            <a:ext cx="3416808" cy="2303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FFFFFF">
                    <a:alpha val="85000"/>
                  </a:srgbClr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Confirmar direccion del QQQ pre-market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507950" y="2087166"/>
            <a:ext cx="3987850" cy="501402"/>
          </a:xfrm>
          <a:prstGeom prst="roundRect">
            <a:avLst>
              <a:gd name="adj" fmla="val 15197"/>
            </a:avLst>
          </a:prstGeom>
          <a:solidFill>
            <a:srgbClr val="FFFFFF">
              <a:alpha val="6000"/>
            </a:srgbClr>
          </a:solidFill>
          <a:ln w="9525">
            <a:solidFill>
              <a:srgbClr val="FFFFFF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669875" y="2198191"/>
            <a:ext cx="279350" cy="279350"/>
          </a:xfrm>
          <a:prstGeom prst="roundRect">
            <a:avLst>
              <a:gd name="adj" fmla="val 327331"/>
            </a:avLst>
          </a:prstGeom>
          <a:noFill/>
          <a:ln w="19050">
            <a:solidFill>
              <a:srgbClr val="44D1E4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774650" y="2267992"/>
            <a:ext cx="96325" cy="1509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1100" b="1" dirty="0">
                <a:solidFill>
                  <a:srgbClr val="44D1E4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3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1050727" y="2198191"/>
            <a:ext cx="3326892" cy="2303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FFFFFF">
                    <a:alpha val="85000"/>
                  </a:srgbClr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Verificar tendencia 1D y 4H NVDA/TSLA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507950" y="2664768"/>
            <a:ext cx="3987850" cy="501402"/>
          </a:xfrm>
          <a:prstGeom prst="roundRect">
            <a:avLst>
              <a:gd name="adj" fmla="val 15197"/>
            </a:avLst>
          </a:prstGeom>
          <a:solidFill>
            <a:srgbClr val="FFFFFF">
              <a:alpha val="6000"/>
            </a:srgbClr>
          </a:solidFill>
          <a:ln w="9525">
            <a:solidFill>
              <a:srgbClr val="FFFFFF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669875" y="2775793"/>
            <a:ext cx="279350" cy="279350"/>
          </a:xfrm>
          <a:prstGeom prst="roundRect">
            <a:avLst>
              <a:gd name="adj" fmla="val 327331"/>
            </a:avLst>
          </a:prstGeom>
          <a:noFill/>
          <a:ln w="19050">
            <a:solidFill>
              <a:srgbClr val="44D1E4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774650" y="2845594"/>
            <a:ext cx="96325" cy="1509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1100" b="1" dirty="0">
                <a:solidFill>
                  <a:srgbClr val="44D1E4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4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1050727" y="2775793"/>
            <a:ext cx="3236976" cy="2303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FFFFFF">
                    <a:alpha val="85000"/>
                  </a:srgbClr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Marcar soportes y resistencias en 1H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507950" y="3242370"/>
            <a:ext cx="3987850" cy="501402"/>
          </a:xfrm>
          <a:prstGeom prst="roundRect">
            <a:avLst>
              <a:gd name="adj" fmla="val 15197"/>
            </a:avLst>
          </a:prstGeom>
          <a:solidFill>
            <a:srgbClr val="FFFFFF">
              <a:alpha val="6000"/>
            </a:srgbClr>
          </a:solidFill>
          <a:ln w="9525">
            <a:solidFill>
              <a:srgbClr val="FFFFFF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Text 20"/>
          <p:cNvSpPr/>
          <p:nvPr/>
        </p:nvSpPr>
        <p:spPr>
          <a:xfrm>
            <a:off x="669875" y="3353395"/>
            <a:ext cx="279350" cy="279350"/>
          </a:xfrm>
          <a:prstGeom prst="roundRect">
            <a:avLst>
              <a:gd name="adj" fmla="val 327331"/>
            </a:avLst>
          </a:prstGeom>
          <a:noFill/>
          <a:ln w="19050">
            <a:solidFill>
              <a:srgbClr val="EDCD82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3" name="Text 21"/>
          <p:cNvSpPr/>
          <p:nvPr/>
        </p:nvSpPr>
        <p:spPr>
          <a:xfrm>
            <a:off x="774650" y="3423196"/>
            <a:ext cx="96325" cy="1509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1100" b="1" dirty="0">
                <a:solidFill>
                  <a:srgbClr val="EDCD82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5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1050727" y="3353395"/>
            <a:ext cx="3236976" cy="2303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FFFFFF">
                    <a:alpha val="85000"/>
                  </a:srgbClr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Revisar calendario economico del dia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4648200" y="931962"/>
            <a:ext cx="3987850" cy="501402"/>
          </a:xfrm>
          <a:prstGeom prst="roundRect">
            <a:avLst>
              <a:gd name="adj" fmla="val 15197"/>
            </a:avLst>
          </a:prstGeom>
          <a:solidFill>
            <a:srgbClr val="FFFFFF">
              <a:alpha val="6000"/>
            </a:srgbClr>
          </a:solidFill>
          <a:ln w="9525">
            <a:solidFill>
              <a:srgbClr val="FFFFFF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6" name="Text 24"/>
          <p:cNvSpPr/>
          <p:nvPr/>
        </p:nvSpPr>
        <p:spPr>
          <a:xfrm>
            <a:off x="4810125" y="1042988"/>
            <a:ext cx="279350" cy="279350"/>
          </a:xfrm>
          <a:prstGeom prst="roundRect">
            <a:avLst>
              <a:gd name="adj" fmla="val 327331"/>
            </a:avLst>
          </a:prstGeom>
          <a:noFill/>
          <a:ln w="19050">
            <a:solidFill>
              <a:srgbClr val="44D1E4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7" name="Text 25"/>
          <p:cNvSpPr/>
          <p:nvPr/>
        </p:nvSpPr>
        <p:spPr>
          <a:xfrm>
            <a:off x="4914900" y="1112788"/>
            <a:ext cx="96325" cy="1509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1100" b="1" dirty="0">
                <a:solidFill>
                  <a:srgbClr val="44D1E4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6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5190976" y="1042988"/>
            <a:ext cx="3236976" cy="2303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FFFFFF">
                    <a:alpha val="85000"/>
                  </a:srgbClr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Identificar gap pre-market NVDA/TSLA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4648200" y="1509564"/>
            <a:ext cx="3987850" cy="501402"/>
          </a:xfrm>
          <a:prstGeom prst="roundRect">
            <a:avLst>
              <a:gd name="adj" fmla="val 15197"/>
            </a:avLst>
          </a:prstGeom>
          <a:solidFill>
            <a:srgbClr val="FFFFFF">
              <a:alpha val="6000"/>
            </a:srgbClr>
          </a:solidFill>
          <a:ln w="9525">
            <a:solidFill>
              <a:srgbClr val="FFFFFF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0" name="Text 28"/>
          <p:cNvSpPr/>
          <p:nvPr/>
        </p:nvSpPr>
        <p:spPr>
          <a:xfrm>
            <a:off x="4810125" y="1620589"/>
            <a:ext cx="279350" cy="279350"/>
          </a:xfrm>
          <a:prstGeom prst="roundRect">
            <a:avLst>
              <a:gd name="adj" fmla="val 327331"/>
            </a:avLst>
          </a:prstGeom>
          <a:noFill/>
          <a:ln w="19050">
            <a:solidFill>
              <a:srgbClr val="44D1E4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1" name="Text 29"/>
          <p:cNvSpPr/>
          <p:nvPr/>
        </p:nvSpPr>
        <p:spPr>
          <a:xfrm>
            <a:off x="4914900" y="1690390"/>
            <a:ext cx="96325" cy="1509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1100" b="1" dirty="0">
                <a:solidFill>
                  <a:srgbClr val="44D1E4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7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5190976" y="1620589"/>
            <a:ext cx="3352800" cy="2303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FFFFFF">
                    <a:alpha val="85000"/>
                  </a:srgbClr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Verificar volumen pre-market vs promedio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4648200" y="2087166"/>
            <a:ext cx="3987850" cy="501402"/>
          </a:xfrm>
          <a:prstGeom prst="roundRect">
            <a:avLst>
              <a:gd name="adj" fmla="val 15197"/>
            </a:avLst>
          </a:prstGeom>
          <a:solidFill>
            <a:srgbClr val="FFFFFF">
              <a:alpha val="6000"/>
            </a:srgbClr>
          </a:solidFill>
          <a:ln w="9525">
            <a:solidFill>
              <a:srgbClr val="FFFFFF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4" name="Text 32"/>
          <p:cNvSpPr/>
          <p:nvPr/>
        </p:nvSpPr>
        <p:spPr>
          <a:xfrm>
            <a:off x="4810125" y="2198191"/>
            <a:ext cx="279350" cy="279350"/>
          </a:xfrm>
          <a:prstGeom prst="roundRect">
            <a:avLst>
              <a:gd name="adj" fmla="val 327331"/>
            </a:avLst>
          </a:prstGeom>
          <a:noFill/>
          <a:ln w="19050">
            <a:solidFill>
              <a:srgbClr val="44D1E4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5" name="Text 33"/>
          <p:cNvSpPr/>
          <p:nvPr/>
        </p:nvSpPr>
        <p:spPr>
          <a:xfrm>
            <a:off x="4914900" y="2267992"/>
            <a:ext cx="96325" cy="1509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1100" b="1" dirty="0">
                <a:solidFill>
                  <a:srgbClr val="44D1E4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8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5190976" y="2198191"/>
            <a:ext cx="3057144" cy="2303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FFFFFF">
                    <a:alpha val="85000"/>
                  </a:srgbClr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Definir setups activos para el dia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4648200" y="2664768"/>
            <a:ext cx="3987850" cy="501402"/>
          </a:xfrm>
          <a:prstGeom prst="roundRect">
            <a:avLst>
              <a:gd name="adj" fmla="val 15197"/>
            </a:avLst>
          </a:prstGeom>
          <a:solidFill>
            <a:srgbClr val="FFFFFF">
              <a:alpha val="6000"/>
            </a:srgbClr>
          </a:solidFill>
          <a:ln w="9525">
            <a:solidFill>
              <a:srgbClr val="FFFFFF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8" name="Text 36"/>
          <p:cNvSpPr/>
          <p:nvPr/>
        </p:nvSpPr>
        <p:spPr>
          <a:xfrm>
            <a:off x="4810125" y="2775793"/>
            <a:ext cx="279350" cy="279350"/>
          </a:xfrm>
          <a:prstGeom prst="roundRect">
            <a:avLst>
              <a:gd name="adj" fmla="val 327331"/>
            </a:avLst>
          </a:prstGeom>
          <a:noFill/>
          <a:ln w="19050">
            <a:solidFill>
              <a:srgbClr val="44D1E4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9" name="Text 37"/>
          <p:cNvSpPr/>
          <p:nvPr/>
        </p:nvSpPr>
        <p:spPr>
          <a:xfrm>
            <a:off x="4914900" y="2845594"/>
            <a:ext cx="96325" cy="1509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1100" b="1" dirty="0">
                <a:solidFill>
                  <a:srgbClr val="44D1E4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9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5190976" y="2775793"/>
            <a:ext cx="3147060" cy="2303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FFFFFF">
                    <a:alpha val="85000"/>
                  </a:srgbClr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Calcular tamano de posicion y SL/TP</a:t>
            </a:r>
            <a:endParaRPr lang="en-US" sz="1200" dirty="0"/>
          </a:p>
        </p:txBody>
      </p:sp>
      <p:sp>
        <p:nvSpPr>
          <p:cNvPr id="41" name="Text 39"/>
          <p:cNvSpPr/>
          <p:nvPr/>
        </p:nvSpPr>
        <p:spPr>
          <a:xfrm>
            <a:off x="4648200" y="3242370"/>
            <a:ext cx="3987850" cy="501402"/>
          </a:xfrm>
          <a:prstGeom prst="roundRect">
            <a:avLst>
              <a:gd name="adj" fmla="val 15197"/>
            </a:avLst>
          </a:prstGeom>
          <a:solidFill>
            <a:srgbClr val="FFFFFF">
              <a:alpha val="6000"/>
            </a:srgbClr>
          </a:solidFill>
          <a:ln w="9525">
            <a:solidFill>
              <a:srgbClr val="FFFFFF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2" name="Text 40"/>
          <p:cNvSpPr/>
          <p:nvPr/>
        </p:nvSpPr>
        <p:spPr>
          <a:xfrm>
            <a:off x="4810125" y="3353395"/>
            <a:ext cx="279350" cy="279350"/>
          </a:xfrm>
          <a:prstGeom prst="roundRect">
            <a:avLst>
              <a:gd name="adj" fmla="val 327331"/>
            </a:avLst>
          </a:prstGeom>
          <a:noFill/>
          <a:ln w="19050">
            <a:solidFill>
              <a:srgbClr val="E65174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3" name="Text 41"/>
          <p:cNvSpPr/>
          <p:nvPr/>
        </p:nvSpPr>
        <p:spPr>
          <a:xfrm>
            <a:off x="4879925" y="3423196"/>
            <a:ext cx="192649" cy="1509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1100" b="1" dirty="0">
                <a:solidFill>
                  <a:srgbClr val="E65174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10</a:t>
            </a:r>
            <a:endParaRPr lang="en-US" sz="1100" dirty="0"/>
          </a:p>
        </p:txBody>
      </p:sp>
      <p:sp>
        <p:nvSpPr>
          <p:cNvPr id="44" name="Text 42"/>
          <p:cNvSpPr/>
          <p:nvPr/>
        </p:nvSpPr>
        <p:spPr>
          <a:xfrm>
            <a:off x="5190976" y="3353395"/>
            <a:ext cx="3236976" cy="2303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FFFFFF">
                    <a:alpha val="85000"/>
                  </a:srgbClr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Confirmar estado mental y disciplina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6223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660350"/>
          </a:xfrm>
          <a:prstGeom prst="rect">
            <a:avLst/>
          </a:prstGeom>
          <a:solidFill>
            <a:srgbClr val="0D152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58701" y="155525"/>
            <a:ext cx="3142692" cy="3770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FFFFFF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Conclusiones Clave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660499" y="1840260"/>
            <a:ext cx="2489150" cy="2123182"/>
          </a:xfrm>
          <a:prstGeom prst="roundRect">
            <a:avLst>
              <a:gd name="adj" fmla="val 5982"/>
            </a:avLst>
          </a:prstGeom>
          <a:solidFill>
            <a:srgbClr val="1E2D4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Shape 3"/>
          <p:cNvSpPr/>
          <p:nvPr/>
        </p:nvSpPr>
        <p:spPr>
          <a:xfrm>
            <a:off x="660499" y="1859310"/>
            <a:ext cx="2489150" cy="0"/>
          </a:xfrm>
          <a:prstGeom prst="line">
            <a:avLst/>
          </a:prstGeom>
          <a:noFill/>
          <a:ln w="38100">
            <a:solidFill>
              <a:srgbClr val="44D1E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38200" y="2132261"/>
            <a:ext cx="2944573" cy="27437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00"/>
              </a:lnSpc>
              <a:spcAft>
                <a:spcPts val="800"/>
              </a:spcAft>
              <a:buNone/>
            </a:pPr>
            <a:r>
              <a:rPr lang="en-US" sz="2000" b="1" dirty="0">
                <a:solidFill>
                  <a:srgbClr val="44D1E4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01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838200" y="2487811"/>
            <a:ext cx="2517824" cy="2496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20"/>
              </a:lnSpc>
              <a:spcAft>
                <a:spcPts val="600"/>
              </a:spcAft>
              <a:buNone/>
            </a:pPr>
            <a:r>
              <a:rPr lang="en-US" sz="1400" b="1" dirty="0">
                <a:solidFill>
                  <a:srgbClr val="FFFFFF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Filtros como Ventaja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38200" y="2795141"/>
            <a:ext cx="2240436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FFFFFF">
                    <a:alpha val="55000"/>
                  </a:srgbClr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VIX y QQQ proporcionan el edge estadistico. Sin filtros, el WR baja de 62% a 46%.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3327350" y="1840260"/>
            <a:ext cx="2489150" cy="2123182"/>
          </a:xfrm>
          <a:prstGeom prst="roundRect">
            <a:avLst>
              <a:gd name="adj" fmla="val 5982"/>
            </a:avLst>
          </a:prstGeom>
          <a:solidFill>
            <a:srgbClr val="1E2D4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Shape 8"/>
          <p:cNvSpPr/>
          <p:nvPr/>
        </p:nvSpPr>
        <p:spPr>
          <a:xfrm>
            <a:off x="3327350" y="1859310"/>
            <a:ext cx="2489150" cy="0"/>
          </a:xfrm>
          <a:prstGeom prst="line">
            <a:avLst/>
          </a:prstGeom>
          <a:noFill/>
          <a:ln w="38100">
            <a:solidFill>
              <a:srgbClr val="EDCD8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505051" y="2132261"/>
            <a:ext cx="2944573" cy="27437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00"/>
              </a:lnSpc>
              <a:spcAft>
                <a:spcPts val="800"/>
              </a:spcAft>
              <a:buNone/>
            </a:pPr>
            <a:r>
              <a:rPr lang="en-US" sz="2000" b="1" dirty="0">
                <a:solidFill>
                  <a:srgbClr val="EDCD82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02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3505051" y="2487811"/>
            <a:ext cx="2517824" cy="2496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20"/>
              </a:lnSpc>
              <a:spcAft>
                <a:spcPts val="600"/>
              </a:spcAft>
              <a:buNone/>
            </a:pPr>
            <a:r>
              <a:rPr lang="en-US" sz="1400" b="1" dirty="0">
                <a:solidFill>
                  <a:srgbClr val="FFFFFF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Disciplina en Riesgo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3505051" y="2795141"/>
            <a:ext cx="2240436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FFFFFF">
                    <a:alpha val="55000"/>
                  </a:srgbClr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El 90% pierde por mala gestion. Seguir las reglas de riesgo al pie de la letra.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5994202" y="1840260"/>
            <a:ext cx="2489150" cy="2123182"/>
          </a:xfrm>
          <a:prstGeom prst="roundRect">
            <a:avLst>
              <a:gd name="adj" fmla="val 5982"/>
            </a:avLst>
          </a:prstGeom>
          <a:solidFill>
            <a:srgbClr val="1E2D4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Shape 13"/>
          <p:cNvSpPr/>
          <p:nvPr/>
        </p:nvSpPr>
        <p:spPr>
          <a:xfrm>
            <a:off x="5994202" y="1859310"/>
            <a:ext cx="2489150" cy="0"/>
          </a:xfrm>
          <a:prstGeom prst="line">
            <a:avLst/>
          </a:prstGeom>
          <a:noFill/>
          <a:ln w="38100">
            <a:solidFill>
              <a:srgbClr val="E6517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171902" y="2132261"/>
            <a:ext cx="2944573" cy="27437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00"/>
              </a:lnSpc>
              <a:spcAft>
                <a:spcPts val="800"/>
              </a:spcAft>
              <a:buNone/>
            </a:pPr>
            <a:r>
              <a:rPr lang="en-US" sz="2000" b="1" dirty="0">
                <a:solidFill>
                  <a:srgbClr val="E65174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03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6171902" y="2487811"/>
            <a:ext cx="2517824" cy="2496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20"/>
              </a:lnSpc>
              <a:spcAft>
                <a:spcPts val="600"/>
              </a:spcAft>
              <a:buNone/>
            </a:pPr>
            <a:r>
              <a:rPr lang="en-US" sz="1400" b="1" dirty="0">
                <a:solidFill>
                  <a:srgbClr val="FFFFFF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Proceso sobre Resultado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6171902" y="2795141"/>
            <a:ext cx="2240436" cy="7406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FFFFFF">
                    <a:alpha val="55000"/>
                  </a:srgbClr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Ejecutar el plan siempre. Un buen dia no es excusa, uno malo no razon para rendirse.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Plan de Trading Scalping NVDA/TSLA</dc:title>
  <dc:subject>PptxGenJS Presentation</dc:subject>
  <dc:creator>Z.ai</dc:creator>
  <cp:lastModifiedBy>Z.ai</cp:lastModifiedBy>
  <cp:revision>1</cp:revision>
  <dcterms:created xsi:type="dcterms:W3CDTF">2026-04-19T23:26:12Z</dcterms:created>
  <dcterms:modified xsi:type="dcterms:W3CDTF">2026-04-19T23:26:12Z</dcterms:modified>
</cp:coreProperties>
</file>